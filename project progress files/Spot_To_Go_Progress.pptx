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434" autoAdjust="0"/>
  </p:normalViewPr>
  <p:slideViewPr>
    <p:cSldViewPr snapToGrid="0" snapToObjects="1">
      <p:cViewPr varScale="1">
        <p:scale>
          <a:sx n="78" d="100"/>
          <a:sy n="78" d="100"/>
        </p:scale>
        <p:origin x="254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443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This presentation covers the end-to-end development progress of Spot To Go — an Android application that helps users discover nearby restaurants on a live map, preview them via video, and get directions. Today we'll walk through the Google Cloud API setup, Android Studio configuration including the virtual device challenge we hit, the project's file structure, and a live demo of the three working screens.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8365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Spot To Go is an academic Android project. The core idea is simple: open the app, see a live map centred on your GPS position, see restaurant markers nearby, tap one to read the details, watch a preview video, or get directions. We chose Kotlin because it is the modern default in Android Studio. Jetpack Compose replaced XML layouts — it is declarative and much faster to write. The login screen exists to demonstrate navigation flow; for this demo phase 'Continue as Guest' bypasses authentication so we can focus on the map and restaurant features.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60493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real setup step before writing a single line of Android code was creating the project in Google Cloud Console and enabling two APIs. Maps SDK for Android renders the interactive map tile layer. Places API (Nearby Search) will return live restaurant data once we move beyond the current seeded data phase. The API key is injected at build time via manifestPlaceholders in Gradle, reading from local.properties. This file is gitignored so the key is never accidentally exposed in version control — an important security practice even for academic projects.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32601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Android Studio Quail 1 is the current stable release. We chose the Empty Activity template with Jetpack Compose because it gives a clean starting point without legacy XML boilerplate. The version catalogue in libs.versions.toml is a Gradle best practice: all library versions are declared in one place so they can be updated without hunting through multiple build files. One issue we hit early: the kotlin-android plugin was missing from the catalogue, which silently prevented the Kotlin compiler plugin from loading during Gradle sync. Adding it resolved the sync failure. We also hit a material-icons import error because material-icons-extended was not declared as a dependency — adding it fixed all icon resolution errors in the IDE.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00720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was the most significant setup blocker. The Android emulator uses hardware virtualisation (Intel VT-x or AMD-V) to run efficiently. On this machine, that feature was disabled at the BIOS level. We diagnosed it by running a PowerShell command that reported HyperVRequirementVirtualizationFirmwareEnabled as False — meaning the BIOS was the only remaining blocker; Hyper-V and Windows Hypervisor Platform were already disabled. The fix was to reboot into BIOS, find the Intel Virtualisation Technology setting, enable it, save and restart. After that we re-ran the Android Emulator Hypervisor Driver (AEHD) silent installer as Administrator to register the hypervisor. The emulator then launched and the app deployed successfully.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45421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screenshot on the left shows the actual Android Studio file tree and editor. The project follows a simple feature-folder structure: each screen lives in its own sub-package under ui/. The data layer is a single file — Restaurant.kt holds both the data class and the repository with 5 hardcoded seed restaurants. MainActivity.kt is the entry point and navigation host; it uses Jetpack Navigation Compose to wire the three destinations: Login, Map, and Detail. The Gradle version catalogue (libs.versions.toml) keeps all dependency versions in one place, which is the modern recommended approach over hardcoding versions directly in build.gradle files.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96159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login screen is deliberately minimal. Both the Login button and Continue as Guest navigate to the same MapScreen at this stage — the distinction is that Login will eventually validate credentials against Firebase Authentication in Phase 6 of the plan. The 'Continue as Guest' option was an intentional design decision: for the academic demo and presentation, we want to show the map and restaurant features quickly without needing a real account. The colour palette — a muted steel blue on a light grey background — was chosen to feel trustworthy and clean, matching the app's purpose of helping users make decisions about places to eat.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6932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This is the core screen of the app. The Google Map is rendered using maps-compose, the official Jetpack Compose wrapper for the Maps SDK. When the screen first loads it requests ACCESS_FINE_LOCATION permission — if granted, FusedLocationProviderClient returns the device's GPS position and the camera animates to that location. The 5 restaurant markers are currently seeded at fixed coordinate offsets from the user's GPS position.</a:t>
            </a:r>
          </a:p>
          <a:p>
            <a:r>
              <a:rPr lang="en-GB" dirty="0"/>
              <a:t>The search bar is a key innovation in this design — it is built as an Agentic AI powered feature. In the current phase it operates as a real-time keyword filter: typing a name or cuisine type immediately recomposes the map and shows only matching markers. This is the foundation layer.</a:t>
            </a:r>
          </a:p>
          <a:p>
            <a:r>
              <a:rPr lang="en-GB" dirty="0"/>
              <a:t>The planned next step is to integrate the Gemini API, which upgrades the search bar from a simple keyword filter to a genuine natural language interface. Instead of typing 'Italian', a user could type 'Best cheap food near me' or 'Quiet cafe for studying' — and the AI will parse the intent, extract attributes like cuisine type, price range, and vibe, then rank the Places API results accordingly. This is what makes it agentic: the system understands the user's goal and acts on it, rather than just matching exact words.</a:t>
            </a:r>
          </a:p>
          <a:p>
            <a:r>
              <a:rPr lang="en-GB" dirty="0"/>
              <a:t>In the next phase we also replace the 5 seeded restaurants with a live Places API Nearby Search call returning real restaurants within 1500 metres of the user's location.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93961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Restaurant Detail screen is where the two core user actions happen: watch a video to decide if this place looks good, or launch navigation to go there. The Watch Video button uses a simple Android Intent with ACTION_VIEW and a YouTube URL. Android's intent resolution system opens the YouTube app if installed, or falls back to the browser — no custom video player needed, and no YouTube API key required. The Get Directions button constructs a Google Maps URL with the destination lat/lng pre-filled. Again, an implicit Intent opens Google Maps in navigation mode. This pattern — using intents to delegate to installed apps — is efficient, reliable, and avoids re-implementing functionality that system apps already provide.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67794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summarise: Phases 1 through 4 are complete and demonstrated on a running emulator. The app has a working login screen, a live Google Map centred on the device GPS, 5 restaurant markers that filter by search, and a detail screen where both Watch Video and Get Directions are functional. The immediate next step is Phase 5 — replacing the 5 hardcoded restaurants with a real Places API Nearby Search call, so the app returns actual restaurants near the user. Phase 6 adds Firebase Authentication to the login screen. Phase 7 and 8 cover UI polish — adding a bottom navigation bar with Home, Map, Privacy, and Contact Us tabs — and proper loading/error states. Phase 9 is the dissertation report, which will document all technical decisions made during development. Overall the project is on schedule and the core technical risk — getting a live Google Map running on a real emulator — has been proven out.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19355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1828800"/>
            <a:ext cx="9144000" cy="320040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03120"/>
            <a:ext cx="8229600" cy="1005840"/>
          </a:xfrm>
          <a:prstGeom prst="rect">
            <a:avLst/>
          </a:prstGeom>
          <a:noFill/>
        </p:spPr>
        <p:txBody>
          <a:bodyPr wrap="square">
            <a:spAutoFit/>
          </a:bodyPr>
          <a:lstStyle/>
          <a:p>
            <a:pPr algn="ctr"/>
            <a:r>
              <a:rPr sz="4400" b="1">
                <a:solidFill>
                  <a:srgbClr val="FFFFFF"/>
                </a:solidFill>
              </a:rPr>
              <a:t>Spot To Go</a:t>
            </a:r>
          </a:p>
        </p:txBody>
      </p:sp>
      <p:sp>
        <p:nvSpPr>
          <p:cNvPr id="4" name="TextBox 3"/>
          <p:cNvSpPr txBox="1"/>
          <p:nvPr/>
        </p:nvSpPr>
        <p:spPr>
          <a:xfrm>
            <a:off x="457200" y="3108960"/>
            <a:ext cx="8229600" cy="548640"/>
          </a:xfrm>
          <a:prstGeom prst="rect">
            <a:avLst/>
          </a:prstGeom>
          <a:noFill/>
        </p:spPr>
        <p:txBody>
          <a:bodyPr wrap="square">
            <a:spAutoFit/>
          </a:bodyPr>
          <a:lstStyle/>
          <a:p>
            <a:pPr algn="ctr"/>
            <a:r>
              <a:rPr sz="1800" b="0">
                <a:solidFill>
                  <a:srgbClr val="CCD9F0"/>
                </a:solidFill>
              </a:rPr>
              <a:t>Android App — Development Progress Presentation</a:t>
            </a:r>
          </a:p>
        </p:txBody>
      </p:sp>
      <p:sp>
        <p:nvSpPr>
          <p:cNvPr id="5" name="TextBox 4"/>
          <p:cNvSpPr txBox="1"/>
          <p:nvPr/>
        </p:nvSpPr>
        <p:spPr>
          <a:xfrm>
            <a:off x="457200" y="3657600"/>
            <a:ext cx="8229600" cy="457200"/>
          </a:xfrm>
          <a:prstGeom prst="rect">
            <a:avLst/>
          </a:prstGeom>
          <a:noFill/>
        </p:spPr>
        <p:txBody>
          <a:bodyPr wrap="square">
            <a:spAutoFit/>
          </a:bodyPr>
          <a:lstStyle/>
          <a:p>
            <a:pPr algn="ctr"/>
            <a:r>
              <a:rPr sz="1300" b="0">
                <a:solidFill>
                  <a:srgbClr val="AABBDD"/>
                </a:solidFill>
              </a:rPr>
              <a:t>Academic Project  |  Kotlin + Jetpack Compose  |  Google APIs</a:t>
            </a:r>
          </a:p>
        </p:txBody>
      </p:sp>
      <p:sp>
        <p:nvSpPr>
          <p:cNvPr id="6" name="TextBox 5"/>
          <p:cNvSpPr txBox="1"/>
          <p:nvPr/>
        </p:nvSpPr>
        <p:spPr>
          <a:xfrm>
            <a:off x="457200" y="6217920"/>
            <a:ext cx="8229600" cy="365760"/>
          </a:xfrm>
          <a:prstGeom prst="rect">
            <a:avLst/>
          </a:prstGeom>
          <a:noFill/>
        </p:spPr>
        <p:txBody>
          <a:bodyPr wrap="square">
            <a:spAutoFit/>
          </a:bodyPr>
          <a:lstStyle/>
          <a:p>
            <a:pPr algn="ctr"/>
            <a:r>
              <a:rPr sz="1200" b="0">
                <a:solidFill>
                  <a:srgbClr val="4A6FA5"/>
                </a:solidFill>
              </a:rPr>
              <a:t>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Project Overview</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What is Spot To Go and why was it built?</a:t>
            </a:r>
          </a:p>
        </p:txBody>
      </p:sp>
      <p:sp>
        <p:nvSpPr>
          <p:cNvPr id="4" name="TextBox 3"/>
          <p:cNvSpPr txBox="1"/>
          <p:nvPr/>
        </p:nvSpPr>
        <p:spPr>
          <a:xfrm>
            <a:off x="365760" y="1737360"/>
            <a:ext cx="5120640" cy="3840480"/>
          </a:xfrm>
          <a:prstGeom prst="rect">
            <a:avLst/>
          </a:prstGeom>
          <a:noFill/>
        </p:spPr>
        <p:txBody>
          <a:bodyPr wrap="square">
            <a:spAutoFit/>
          </a:bodyPr>
          <a:lstStyle/>
          <a:p>
            <a:pPr algn="l"/>
            <a:r>
              <a:rPr sz="1700" b="1">
                <a:solidFill>
                  <a:srgbClr val="2E3D6B"/>
                </a:solidFill>
              </a:rPr>
              <a:t>Core App Purpose</a:t>
            </a:r>
          </a:p>
          <a:p>
            <a:pPr algn="l">
              <a:spcBef>
                <a:spcPts val="400"/>
              </a:spcBef>
            </a:pPr>
            <a:r>
              <a:rPr sz="1500">
                <a:solidFill>
                  <a:srgbClr val="222222"/>
                </a:solidFill>
              </a:rPr>
              <a:t>  •  Discover nearby restaurants on an interactive Google Map</a:t>
            </a:r>
          </a:p>
          <a:p>
            <a:pPr algn="l">
              <a:spcBef>
                <a:spcPts val="400"/>
              </a:spcBef>
            </a:pPr>
            <a:r>
              <a:rPr sz="1500">
                <a:solidFill>
                  <a:srgbClr val="222222"/>
                </a:solidFill>
              </a:rPr>
              <a:t>  •  Tap any restaurant marker to see its name, cuisine, rating, and distance</a:t>
            </a:r>
          </a:p>
          <a:p>
            <a:pPr algn="l">
              <a:spcBef>
                <a:spcPts val="400"/>
              </a:spcBef>
            </a:pPr>
            <a:r>
              <a:rPr sz="1500">
                <a:solidFill>
                  <a:srgbClr val="222222"/>
                </a:solidFill>
              </a:rPr>
              <a:t>  •  Watch a real video preview (YouTube) directly from the detail screen</a:t>
            </a:r>
          </a:p>
          <a:p>
            <a:pPr algn="l">
              <a:spcBef>
                <a:spcPts val="400"/>
              </a:spcBef>
            </a:pPr>
            <a:r>
              <a:rPr sz="1500">
                <a:solidFill>
                  <a:srgbClr val="222222"/>
                </a:solidFill>
              </a:rPr>
              <a:t>  •  Launch turn-by-turn navigation to the restaurant via Google Maps</a:t>
            </a:r>
          </a:p>
          <a:p>
            <a:pPr algn="l">
              <a:spcBef>
                <a:spcPts val="400"/>
              </a:spcBef>
            </a:pPr>
            <a:r>
              <a:rPr sz="1500">
                <a:solidFill>
                  <a:srgbClr val="222222"/>
                </a:solidFill>
              </a:rPr>
              <a:t>  •  Optional login — 'Continue as Guest' lets anyone explore immediately</a:t>
            </a:r>
          </a:p>
        </p:txBody>
      </p:sp>
      <p:sp>
        <p:nvSpPr>
          <p:cNvPr id="5" name="TextBox 4"/>
          <p:cNvSpPr txBox="1"/>
          <p:nvPr/>
        </p:nvSpPr>
        <p:spPr>
          <a:xfrm>
            <a:off x="5760720" y="1737360"/>
            <a:ext cx="3108960" cy="3657600"/>
          </a:xfrm>
          <a:prstGeom prst="rect">
            <a:avLst/>
          </a:prstGeom>
          <a:noFill/>
        </p:spPr>
        <p:txBody>
          <a:bodyPr wrap="square">
            <a:spAutoFit/>
          </a:bodyPr>
          <a:lstStyle/>
          <a:p>
            <a:pPr algn="l"/>
            <a:r>
              <a:rPr sz="1500" b="1">
                <a:solidFill>
                  <a:srgbClr val="4A6FA5"/>
                </a:solidFill>
              </a:rPr>
              <a:t>Tech Stack</a:t>
            </a:r>
          </a:p>
          <a:p>
            <a:pPr algn="l">
              <a:spcBef>
                <a:spcPts val="400"/>
              </a:spcBef>
            </a:pPr>
            <a:r>
              <a:rPr sz="1300">
                <a:solidFill>
                  <a:srgbClr val="222222"/>
                </a:solidFill>
              </a:rPr>
              <a:t>  •  Language:  Kotlin</a:t>
            </a:r>
          </a:p>
          <a:p>
            <a:pPr algn="l">
              <a:spcBef>
                <a:spcPts val="400"/>
              </a:spcBef>
            </a:pPr>
            <a:r>
              <a:rPr sz="1300">
                <a:solidFill>
                  <a:srgbClr val="222222"/>
                </a:solidFill>
              </a:rPr>
              <a:t>  •  UI Framework:  Jetpack Compose</a:t>
            </a:r>
          </a:p>
          <a:p>
            <a:pPr algn="l">
              <a:spcBef>
                <a:spcPts val="400"/>
              </a:spcBef>
            </a:pPr>
            <a:r>
              <a:rPr sz="1300">
                <a:solidFill>
                  <a:srgbClr val="222222"/>
                </a:solidFill>
              </a:rPr>
              <a:t>  •  Maps:  Google Maps SDK for Android</a:t>
            </a:r>
          </a:p>
          <a:p>
            <a:pPr algn="l">
              <a:spcBef>
                <a:spcPts val="400"/>
              </a:spcBef>
            </a:pPr>
            <a:r>
              <a:rPr sz="1300">
                <a:solidFill>
                  <a:srgbClr val="222222"/>
                </a:solidFill>
              </a:rPr>
              <a:t>  •  Location:  FusedLocationProviderClient</a:t>
            </a:r>
          </a:p>
          <a:p>
            <a:pPr algn="l">
              <a:spcBef>
                <a:spcPts val="400"/>
              </a:spcBef>
            </a:pPr>
            <a:r>
              <a:rPr sz="1300">
                <a:solidFill>
                  <a:srgbClr val="222222"/>
                </a:solidFill>
              </a:rPr>
              <a:t>  •  Restaurant Data:  Seeded (Places API next step)</a:t>
            </a:r>
          </a:p>
          <a:p>
            <a:pPr algn="l">
              <a:spcBef>
                <a:spcPts val="400"/>
              </a:spcBef>
            </a:pPr>
            <a:r>
              <a:rPr sz="1300">
                <a:solidFill>
                  <a:srgbClr val="222222"/>
                </a:solidFill>
              </a:rPr>
              <a:t>  •  IDE:  Android Studio Quail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Step 1 — Google Cloud Console: API Setup</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Enabling Maps SDK and Places API for the Android app</a:t>
            </a:r>
          </a:p>
        </p:txBody>
      </p:sp>
      <p:sp>
        <p:nvSpPr>
          <p:cNvPr id="4" name="TextBox 3"/>
          <p:cNvSpPr txBox="1"/>
          <p:nvPr/>
        </p:nvSpPr>
        <p:spPr>
          <a:xfrm>
            <a:off x="365760" y="1691640"/>
            <a:ext cx="8412480" cy="4206240"/>
          </a:xfrm>
          <a:prstGeom prst="rect">
            <a:avLst/>
          </a:prstGeom>
          <a:noFill/>
        </p:spPr>
        <p:txBody>
          <a:bodyPr wrap="square">
            <a:spAutoFit/>
          </a:bodyPr>
          <a:lstStyle/>
          <a:p>
            <a:pPr algn="l"/>
            <a:r>
              <a:rPr sz="1600" b="1">
                <a:solidFill>
                  <a:srgbClr val="2E3D6B"/>
                </a:solidFill>
              </a:rPr>
              <a:t>Setup Steps</a:t>
            </a:r>
          </a:p>
          <a:p>
            <a:pPr algn="l">
              <a:spcBef>
                <a:spcPts val="400"/>
              </a:spcBef>
            </a:pPr>
            <a:r>
              <a:rPr sz="1400">
                <a:solidFill>
                  <a:srgbClr val="222222"/>
                </a:solidFill>
              </a:rPr>
              <a:t>  •  Go to console.cloud.google.com → Create new project (e.g. 'SpotToGo')</a:t>
            </a:r>
          </a:p>
          <a:p>
            <a:pPr algn="l">
              <a:spcBef>
                <a:spcPts val="400"/>
              </a:spcBef>
            </a:pPr>
            <a:r>
              <a:rPr sz="1400">
                <a:solidFill>
                  <a:srgbClr val="222222"/>
                </a:solidFill>
              </a:rPr>
              <a:t>  •  Enable APIs &amp; Services → Search and enable:  Maps SDK for Android</a:t>
            </a:r>
          </a:p>
          <a:p>
            <a:pPr algn="l">
              <a:spcBef>
                <a:spcPts val="400"/>
              </a:spcBef>
            </a:pPr>
            <a:r>
              <a:rPr sz="1400">
                <a:solidFill>
                  <a:srgbClr val="222222"/>
                </a:solidFill>
              </a:rPr>
              <a:t>  •  Enable APIs &amp; Services → Search and enable:  Places API</a:t>
            </a:r>
          </a:p>
          <a:p>
            <a:pPr algn="l">
              <a:spcBef>
                <a:spcPts val="400"/>
              </a:spcBef>
            </a:pPr>
            <a:r>
              <a:rPr sz="1400">
                <a:solidFill>
                  <a:srgbClr val="222222"/>
                </a:solidFill>
              </a:rPr>
              <a:t>  •  Go to Credentials → Create API Key → restrict to Android apps</a:t>
            </a:r>
          </a:p>
          <a:p>
            <a:pPr algn="l">
              <a:spcBef>
                <a:spcPts val="400"/>
              </a:spcBef>
            </a:pPr>
            <a:r>
              <a:rPr sz="1400">
                <a:solidFill>
                  <a:srgbClr val="222222"/>
                </a:solidFill>
              </a:rPr>
              <a:t>  •  Copy the API key — it will be stored in local.properties (never committed to Git)</a:t>
            </a:r>
          </a:p>
          <a:p>
            <a:pPr algn="l">
              <a:spcBef>
                <a:spcPts val="400"/>
              </a:spcBef>
            </a:pPr>
            <a:r>
              <a:rPr sz="1400">
                <a:solidFill>
                  <a:srgbClr val="222222"/>
                </a:solidFill>
              </a:rPr>
              <a:t>  •  In AndroidManifest.xml: add meta-data tag referencing ${MAPS_API_KEY}</a:t>
            </a:r>
          </a:p>
          <a:p>
            <a:pPr algn="l">
              <a:spcBef>
                <a:spcPts val="400"/>
              </a:spcBef>
            </a:pPr>
            <a:r>
              <a:rPr sz="1400">
                <a:solidFill>
                  <a:srgbClr val="222222"/>
                </a:solidFill>
              </a:rPr>
              <a:t>  •  In app/build.gradle.kts: read local.properties and inject via manifestPlaceholders</a:t>
            </a:r>
          </a:p>
        </p:txBody>
      </p:sp>
      <p:sp>
        <p:nvSpPr>
          <p:cNvPr id="5" name="Rectangle 4"/>
          <p:cNvSpPr/>
          <p:nvPr/>
        </p:nvSpPr>
        <p:spPr>
          <a:xfrm>
            <a:off x="365760" y="5577840"/>
            <a:ext cx="8412480" cy="731520"/>
          </a:xfrm>
          <a:prstGeom prst="rect">
            <a:avLst/>
          </a:prstGeom>
          <a:solidFill>
            <a:srgbClr val="FFF3CD"/>
          </a:solidFill>
          <a:ln>
            <a:solidFill>
              <a:srgbClr val="E6AC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7A6000"/>
                </a:solidFill>
              </a:rPr>
              <a:t>  Security note:  local.properties is listed in .gitignore — the API key is never pushed to version control.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Step 2 — Android Studio Setup</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Installing the IDE and scaffolding the project</a:t>
            </a:r>
          </a:p>
        </p:txBody>
      </p:sp>
      <p:sp>
        <p:nvSpPr>
          <p:cNvPr id="4" name="TextBox 3"/>
          <p:cNvSpPr txBox="1"/>
          <p:nvPr/>
        </p:nvSpPr>
        <p:spPr>
          <a:xfrm>
            <a:off x="365760" y="1691640"/>
            <a:ext cx="8412480" cy="4389120"/>
          </a:xfrm>
          <a:prstGeom prst="rect">
            <a:avLst/>
          </a:prstGeom>
          <a:noFill/>
        </p:spPr>
        <p:txBody>
          <a:bodyPr wrap="square">
            <a:spAutoFit/>
          </a:bodyPr>
          <a:lstStyle/>
          <a:p>
            <a:pPr algn="l"/>
            <a:r>
              <a:rPr sz="1600" b="1">
                <a:solidFill>
                  <a:srgbClr val="2E3D6B"/>
                </a:solidFill>
              </a:rPr>
              <a:t>Installation &amp; Configuration Steps</a:t>
            </a:r>
          </a:p>
          <a:p>
            <a:pPr algn="l">
              <a:spcBef>
                <a:spcPts val="400"/>
              </a:spcBef>
            </a:pPr>
            <a:r>
              <a:rPr sz="1400">
                <a:solidFill>
                  <a:srgbClr val="222222"/>
                </a:solidFill>
              </a:rPr>
              <a:t>  •  Installed Android Studio Quail 1 (latest stable release)</a:t>
            </a:r>
          </a:p>
          <a:p>
            <a:pPr algn="l">
              <a:spcBef>
                <a:spcPts val="400"/>
              </a:spcBef>
            </a:pPr>
            <a:r>
              <a:rPr sz="1400">
                <a:solidFill>
                  <a:srgbClr val="222222"/>
                </a:solidFill>
              </a:rPr>
              <a:t>  •  Created new project:  'Empty Activity' template  →  Jetpack Compose</a:t>
            </a:r>
          </a:p>
          <a:p>
            <a:pPr algn="l">
              <a:spcBef>
                <a:spcPts val="400"/>
              </a:spcBef>
            </a:pPr>
            <a:r>
              <a:rPr sz="1400">
                <a:solidFill>
                  <a:srgbClr val="222222"/>
                </a:solidFill>
              </a:rPr>
              <a:t>  •  Package name:  com.example.spottogo     Min SDK:  API 24 (Android 7.0+)</a:t>
            </a:r>
          </a:p>
          <a:p>
            <a:pPr algn="l">
              <a:spcBef>
                <a:spcPts val="400"/>
              </a:spcBef>
            </a:pPr>
            <a:r>
              <a:rPr sz="1400">
                <a:solidFill>
                  <a:srgbClr val="222222"/>
                </a:solidFill>
              </a:rPr>
              <a:t>  •  Added dependencies in libs.versions.toml (version catalogue):</a:t>
            </a:r>
          </a:p>
          <a:p>
            <a:pPr algn="l">
              <a:spcBef>
                <a:spcPts val="400"/>
              </a:spcBef>
            </a:pPr>
            <a:r>
              <a:rPr sz="1400">
                <a:solidFill>
                  <a:srgbClr val="222222"/>
                </a:solidFill>
              </a:rPr>
              <a:t>  •        maps-compose 4.3.3,  play-services-maps 18.2.0</a:t>
            </a:r>
          </a:p>
          <a:p>
            <a:pPr algn="l">
              <a:spcBef>
                <a:spcPts val="400"/>
              </a:spcBef>
            </a:pPr>
            <a:r>
              <a:rPr sz="1400">
                <a:solidFill>
                  <a:srgbClr val="222222"/>
                </a:solidFill>
              </a:rPr>
              <a:t>  •        play-services-location 21.0.1,  accompanist-permissions 0.34.0</a:t>
            </a:r>
          </a:p>
          <a:p>
            <a:pPr algn="l">
              <a:spcBef>
                <a:spcPts val="400"/>
              </a:spcBef>
            </a:pPr>
            <a:r>
              <a:rPr sz="1400">
                <a:solidFill>
                  <a:srgbClr val="222222"/>
                </a:solidFill>
              </a:rPr>
              <a:t>  •        navigation-compose 2.7.7,  material-icons-extended (via Compose BOM)</a:t>
            </a:r>
          </a:p>
          <a:p>
            <a:pPr algn="l">
              <a:spcBef>
                <a:spcPts val="400"/>
              </a:spcBef>
            </a:pPr>
            <a:r>
              <a:rPr sz="1400">
                <a:solidFill>
                  <a:srgbClr val="222222"/>
                </a:solidFill>
              </a:rPr>
              <a:t>  •  Compose BOM 2026.02.01 manages all Compose library versions centrally</a:t>
            </a:r>
          </a:p>
          <a:p>
            <a:pPr algn="l">
              <a:spcBef>
                <a:spcPts val="400"/>
              </a:spcBef>
            </a:pPr>
            <a:r>
              <a:rPr sz="1400">
                <a:solidFill>
                  <a:srgbClr val="222222"/>
                </a:solidFill>
              </a:rPr>
              <a:t>  •  Fixed Gradle sync bug: kotlin-android plugin was missing from libs.versions.toml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Step 3 — Virtual Device (Emulator) Setup</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Creating an Android Virtual Device and resolving the BIOS virtualisation issue</a:t>
            </a:r>
          </a:p>
        </p:txBody>
      </p:sp>
      <p:sp>
        <p:nvSpPr>
          <p:cNvPr id="4" name="TextBox 3"/>
          <p:cNvSpPr txBox="1"/>
          <p:nvPr/>
        </p:nvSpPr>
        <p:spPr>
          <a:xfrm>
            <a:off x="365760" y="1691640"/>
            <a:ext cx="8412480" cy="1188720"/>
          </a:xfrm>
          <a:prstGeom prst="rect">
            <a:avLst/>
          </a:prstGeom>
          <a:noFill/>
        </p:spPr>
        <p:txBody>
          <a:bodyPr wrap="square">
            <a:spAutoFit/>
          </a:bodyPr>
          <a:lstStyle/>
          <a:p>
            <a:pPr algn="l"/>
            <a:r>
              <a:rPr sz="1600" b="1">
                <a:solidFill>
                  <a:srgbClr val="2E3D6B"/>
                </a:solidFill>
              </a:rPr>
              <a:t>Creating the AVD</a:t>
            </a:r>
          </a:p>
          <a:p>
            <a:pPr algn="l">
              <a:spcBef>
                <a:spcPts val="400"/>
              </a:spcBef>
            </a:pPr>
            <a:r>
              <a:rPr sz="1400">
                <a:solidFill>
                  <a:srgbClr val="222222"/>
                </a:solidFill>
              </a:rPr>
              <a:t>  •  Open Android Studio  →  Device Manager  →  Create Virtual Device</a:t>
            </a:r>
          </a:p>
          <a:p>
            <a:pPr algn="l">
              <a:spcBef>
                <a:spcPts val="400"/>
              </a:spcBef>
            </a:pPr>
            <a:r>
              <a:rPr sz="1400">
                <a:solidFill>
                  <a:srgbClr val="222222"/>
                </a:solidFill>
              </a:rPr>
              <a:t>  •  Selected:  Pixel 6 (Medium Phone)  —  API 35 system image downloaded</a:t>
            </a:r>
          </a:p>
          <a:p>
            <a:pPr algn="l">
              <a:spcBef>
                <a:spcPts val="400"/>
              </a:spcBef>
            </a:pPr>
            <a:r>
              <a:rPr sz="1400">
                <a:solidFill>
                  <a:srgbClr val="222222"/>
                </a:solidFill>
              </a:rPr>
              <a:t>  •  First run attempt: emulator failed to start — Run button stayed greyed out</a:t>
            </a:r>
          </a:p>
        </p:txBody>
      </p:sp>
      <p:sp>
        <p:nvSpPr>
          <p:cNvPr id="5" name="Rectangle 4"/>
          <p:cNvSpPr/>
          <p:nvPr/>
        </p:nvSpPr>
        <p:spPr>
          <a:xfrm>
            <a:off x="365760" y="3017520"/>
            <a:ext cx="4023360" cy="2560320"/>
          </a:xfrm>
          <a:prstGeom prst="rect">
            <a:avLst/>
          </a:prstGeom>
          <a:solidFill>
            <a:srgbClr val="FDEDED"/>
          </a:solidFill>
          <a:ln>
            <a:solidFill>
              <a:srgbClr val="E74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rPr>
              <a:t>Problem Encountered</a:t>
            </a:r>
          </a:p>
          <a:p>
            <a:r>
              <a:rPr sz="1200">
                <a:solidFill>
                  <a:srgbClr val="7B241C"/>
                </a:solidFill>
              </a:rPr>
              <a:t>  •  CPU virtualisation (VT-x / AMD-V) was disabled in BIOS</a:t>
            </a:r>
          </a:p>
          <a:p>
            <a:r>
              <a:rPr sz="1200">
                <a:solidFill>
                  <a:srgbClr val="7B241C"/>
                </a:solidFill>
              </a:rPr>
              <a:t>  •  Confirmed via PowerShell:  HyperVRequirementVirtualizationFirmwareEnabled = False</a:t>
            </a:r>
          </a:p>
          <a:p>
            <a:r>
              <a:rPr sz="1200">
                <a:solidFill>
                  <a:srgbClr val="7B241C"/>
                </a:solidFill>
              </a:rPr>
              <a:t>  •  Android Emulator requires hardware virtualisation to run</a:t>
            </a:r>
          </a:p>
          <a:p>
            <a:r>
              <a:rPr sz="1200">
                <a:solidFill>
                  <a:srgbClr val="7B241C"/>
                </a:solidFill>
              </a:rPr>
              <a:t>  •  Gradle sync error (kotlin plugin) also kept the Run button disabled</a:t>
            </a:r>
          </a:p>
        </p:txBody>
      </p:sp>
      <p:sp>
        <p:nvSpPr>
          <p:cNvPr id="6" name="Rectangle 5"/>
          <p:cNvSpPr/>
          <p:nvPr/>
        </p:nvSpPr>
        <p:spPr>
          <a:xfrm>
            <a:off x="4754880" y="3017520"/>
            <a:ext cx="4023360" cy="2560320"/>
          </a:xfrm>
          <a:prstGeom prst="rect">
            <a:avLst/>
          </a:prstGeom>
          <a:solidFill>
            <a:srgbClr val="E9F7EF"/>
          </a:solidFill>
          <a:ln>
            <a:solidFill>
              <a:srgbClr val="27AE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1E8449"/>
                </a:solidFill>
              </a:rPr>
              <a:t>Fix Applied</a:t>
            </a:r>
          </a:p>
          <a:p>
            <a:r>
              <a:rPr sz="1200">
                <a:solidFill>
                  <a:srgbClr val="1A5C36"/>
                </a:solidFill>
              </a:rPr>
              <a:t>  •  Entered BIOS settings on restart</a:t>
            </a:r>
          </a:p>
          <a:p>
            <a:r>
              <a:rPr sz="1200">
                <a:solidFill>
                  <a:srgbClr val="1A5C36"/>
                </a:solidFill>
              </a:rPr>
              <a:t>  •  Enabled Intel VT-x (Intel Virtualisation Technology)</a:t>
            </a:r>
          </a:p>
          <a:p>
            <a:r>
              <a:rPr sz="1200">
                <a:solidFill>
                  <a:srgbClr val="1A5C36"/>
                </a:solidFill>
              </a:rPr>
              <a:t>  •  Saved &amp; restarted the machine</a:t>
            </a:r>
          </a:p>
          <a:p>
            <a:r>
              <a:rPr sz="1200">
                <a:solidFill>
                  <a:srgbClr val="1A5C36"/>
                </a:solidFill>
              </a:rPr>
              <a:t>  •  Re-ran AEHD silent installer as Administrator</a:t>
            </a:r>
          </a:p>
          <a:p>
            <a:r>
              <a:rPr sz="1200">
                <a:solidFill>
                  <a:srgbClr val="1A5C36"/>
                </a:solidFill>
              </a:rPr>
              <a:t>  •  Emulator launched successfully — app deployed and running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Project Structure</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How the codebase is organised — one folder per screen</a:t>
            </a:r>
          </a:p>
        </p:txBody>
      </p:sp>
      <p:pic>
        <p:nvPicPr>
          <p:cNvPr id="4" name="Picture 3" descr="project structure and files.png"/>
          <p:cNvPicPr>
            <a:picLocks noChangeAspect="1"/>
          </p:cNvPicPr>
          <p:nvPr/>
        </p:nvPicPr>
        <p:blipFill>
          <a:blip r:embed="rId3"/>
          <a:stretch>
            <a:fillRect/>
          </a:stretch>
        </p:blipFill>
        <p:spPr>
          <a:xfrm>
            <a:off x="274320" y="1371600"/>
            <a:ext cx="4389120" cy="5029200"/>
          </a:xfrm>
          <a:prstGeom prst="rect">
            <a:avLst/>
          </a:prstGeom>
        </p:spPr>
      </p:pic>
      <p:sp>
        <p:nvSpPr>
          <p:cNvPr id="5" name="TextBox 4"/>
          <p:cNvSpPr txBox="1"/>
          <p:nvPr/>
        </p:nvSpPr>
        <p:spPr>
          <a:xfrm>
            <a:off x="4846320" y="1463040"/>
            <a:ext cx="4023360" cy="4572000"/>
          </a:xfrm>
          <a:prstGeom prst="rect">
            <a:avLst/>
          </a:prstGeom>
          <a:noFill/>
        </p:spPr>
        <p:txBody>
          <a:bodyPr wrap="square">
            <a:spAutoFit/>
          </a:bodyPr>
          <a:lstStyle/>
          <a:p>
            <a:pPr algn="l"/>
            <a:r>
              <a:rPr sz="1500" b="1">
                <a:solidFill>
                  <a:srgbClr val="2E3D6B"/>
                </a:solidFill>
              </a:rPr>
              <a:t>Key Files</a:t>
            </a:r>
          </a:p>
          <a:p>
            <a:pPr algn="l">
              <a:spcBef>
                <a:spcPts val="400"/>
              </a:spcBef>
            </a:pPr>
            <a:r>
              <a:rPr sz="1300">
                <a:solidFill>
                  <a:srgbClr val="222222"/>
                </a:solidFill>
              </a:rPr>
              <a:t>  •  MainActivity.kt  —  NavHost wiring all screens</a:t>
            </a:r>
          </a:p>
          <a:p>
            <a:pPr algn="l">
              <a:spcBef>
                <a:spcPts val="400"/>
              </a:spcBef>
            </a:pPr>
            <a:r>
              <a:rPr sz="1300">
                <a:solidFill>
                  <a:srgbClr val="222222"/>
                </a:solidFill>
              </a:rPr>
              <a:t>  •  data/Restaurant.kt  —  data class + 5 seeded restaurants</a:t>
            </a:r>
          </a:p>
          <a:p>
            <a:pPr algn="l">
              <a:spcBef>
                <a:spcPts val="400"/>
              </a:spcBef>
            </a:pPr>
            <a:r>
              <a:rPr sz="1300">
                <a:solidFill>
                  <a:srgbClr val="222222"/>
                </a:solidFill>
              </a:rPr>
              <a:t>  •  ui/login/LoginScreen.kt  —  login &amp; guest entry</a:t>
            </a:r>
          </a:p>
          <a:p>
            <a:pPr algn="l">
              <a:spcBef>
                <a:spcPts val="400"/>
              </a:spcBef>
            </a:pPr>
            <a:r>
              <a:rPr sz="1300">
                <a:solidFill>
                  <a:srgbClr val="222222"/>
                </a:solidFill>
              </a:rPr>
              <a:t>  •  ui/map/MapScreen.kt  —  map, GPS, markers, search bar</a:t>
            </a:r>
          </a:p>
          <a:p>
            <a:pPr algn="l">
              <a:spcBef>
                <a:spcPts val="400"/>
              </a:spcBef>
            </a:pPr>
            <a:r>
              <a:rPr sz="1300">
                <a:solidFill>
                  <a:srgbClr val="222222"/>
                </a:solidFill>
              </a:rPr>
              <a:t>  •  ui/detail/RestaurantDetailScreen.kt  —  info, video, directions</a:t>
            </a:r>
          </a:p>
          <a:p>
            <a:pPr algn="l">
              <a:spcBef>
                <a:spcPts val="400"/>
              </a:spcBef>
            </a:pPr>
            <a:r>
              <a:rPr sz="1300">
                <a:solidFill>
                  <a:srgbClr val="222222"/>
                </a:solidFill>
              </a:rPr>
              <a:t>  •  </a:t>
            </a:r>
          </a:p>
          <a:p>
            <a:pPr algn="l">
              <a:spcBef>
                <a:spcPts val="400"/>
              </a:spcBef>
            </a:pPr>
            <a:r>
              <a:rPr sz="1300">
                <a:solidFill>
                  <a:srgbClr val="222222"/>
                </a:solidFill>
              </a:rPr>
              <a:t>  •  AndroidManifest.xml  —  permissions + API key injection</a:t>
            </a:r>
          </a:p>
          <a:p>
            <a:pPr algn="l">
              <a:spcBef>
                <a:spcPts val="400"/>
              </a:spcBef>
            </a:pPr>
            <a:r>
              <a:rPr sz="1300">
                <a:solidFill>
                  <a:srgbClr val="222222"/>
                </a:solidFill>
              </a:rPr>
              <a:t>  •  app/build.gradle.kts  —  dependencies &amp; manifestPlaceholders</a:t>
            </a:r>
          </a:p>
          <a:p>
            <a:pPr algn="l">
              <a:spcBef>
                <a:spcPts val="400"/>
              </a:spcBef>
            </a:pPr>
            <a:r>
              <a:rPr sz="1300">
                <a:solidFill>
                  <a:srgbClr val="222222"/>
                </a:solidFill>
              </a:rPr>
              <a:t>  •  gradle/libs.versions.toml  —  version catalogue</a:t>
            </a:r>
          </a:p>
          <a:p>
            <a:pPr algn="l">
              <a:spcBef>
                <a:spcPts val="400"/>
              </a:spcBef>
            </a:pPr>
            <a:r>
              <a:rPr sz="1300">
                <a:solidFill>
                  <a:srgbClr val="222222"/>
                </a:solidFill>
              </a:rPr>
              <a:t>  •  local.properties  —  API keys (gitignored)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Screen 1 — Login</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Entry point and navigation gateway to the main app</a:t>
            </a:r>
          </a:p>
        </p:txBody>
      </p:sp>
      <p:pic>
        <p:nvPicPr>
          <p:cNvPr id="4" name="Picture 3" descr="login page.png"/>
          <p:cNvPicPr>
            <a:picLocks noChangeAspect="1"/>
          </p:cNvPicPr>
          <p:nvPr/>
        </p:nvPicPr>
        <p:blipFill>
          <a:blip r:embed="rId3"/>
          <a:stretch>
            <a:fillRect/>
          </a:stretch>
        </p:blipFill>
        <p:spPr>
          <a:xfrm>
            <a:off x="274320" y="1371600"/>
            <a:ext cx="2286000" cy="5120640"/>
          </a:xfrm>
          <a:prstGeom prst="rect">
            <a:avLst/>
          </a:prstGeom>
        </p:spPr>
      </p:pic>
      <p:sp>
        <p:nvSpPr>
          <p:cNvPr id="5" name="TextBox 4"/>
          <p:cNvSpPr txBox="1"/>
          <p:nvPr/>
        </p:nvSpPr>
        <p:spPr>
          <a:xfrm>
            <a:off x="2834640" y="1463040"/>
            <a:ext cx="5943600" cy="4937760"/>
          </a:xfrm>
          <a:prstGeom prst="rect">
            <a:avLst/>
          </a:prstGeom>
          <a:noFill/>
        </p:spPr>
        <p:txBody>
          <a:bodyPr wrap="square">
            <a:spAutoFit/>
          </a:bodyPr>
          <a:lstStyle/>
          <a:p>
            <a:pPr algn="l"/>
            <a:r>
              <a:rPr sz="1600" b="1">
                <a:solidFill>
                  <a:srgbClr val="2E3D6B"/>
                </a:solidFill>
              </a:rPr>
              <a:t>What This Screen Does</a:t>
            </a:r>
          </a:p>
          <a:p>
            <a:pPr algn="l">
              <a:spcBef>
                <a:spcPts val="400"/>
              </a:spcBef>
            </a:pPr>
            <a:r>
              <a:rPr sz="1400">
                <a:solidFill>
                  <a:srgbClr val="222222"/>
                </a:solidFill>
              </a:rPr>
              <a:t>  •  Displays app name 'Spot To Go' and tagline</a:t>
            </a:r>
          </a:p>
          <a:p>
            <a:pPr algn="l">
              <a:spcBef>
                <a:spcPts val="400"/>
              </a:spcBef>
            </a:pPr>
            <a:r>
              <a:rPr sz="1400">
                <a:solidFill>
                  <a:srgbClr val="222222"/>
                </a:solidFill>
              </a:rPr>
              <a:t>  •  Email + Password fields for future Firebase Auth integration</a:t>
            </a:r>
          </a:p>
          <a:p>
            <a:pPr algn="l">
              <a:spcBef>
                <a:spcPts val="400"/>
              </a:spcBef>
            </a:pPr>
            <a:r>
              <a:rPr sz="1400">
                <a:solidFill>
                  <a:srgbClr val="222222"/>
                </a:solidFill>
              </a:rPr>
              <a:t>  •  'Login' button — primary action (auth logic to be added in Phase 6)</a:t>
            </a:r>
          </a:p>
          <a:p>
            <a:pPr algn="l">
              <a:spcBef>
                <a:spcPts val="400"/>
              </a:spcBef>
            </a:pPr>
            <a:r>
              <a:rPr sz="1400">
                <a:solidFill>
                  <a:srgbClr val="222222"/>
                </a:solidFill>
              </a:rPr>
              <a:t>  •  'Continue as Guest' — bypasses login entirely for the demo</a:t>
            </a:r>
          </a:p>
          <a:p>
            <a:pPr algn="l">
              <a:spcBef>
                <a:spcPts val="400"/>
              </a:spcBef>
            </a:pPr>
            <a:r>
              <a:rPr sz="1400">
                <a:solidFill>
                  <a:srgbClr val="222222"/>
                </a:solidFill>
              </a:rPr>
              <a:t>  •  </a:t>
            </a:r>
          </a:p>
          <a:p>
            <a:pPr algn="l">
              <a:spcBef>
                <a:spcPts val="400"/>
              </a:spcBef>
            </a:pPr>
            <a:r>
              <a:rPr sz="1400">
                <a:solidFill>
                  <a:srgbClr val="222222"/>
                </a:solidFill>
              </a:rPr>
              <a:t>  •  Navigation flow:</a:t>
            </a:r>
          </a:p>
          <a:p>
            <a:pPr algn="l">
              <a:spcBef>
                <a:spcPts val="400"/>
              </a:spcBef>
            </a:pPr>
            <a:r>
              <a:rPr sz="1400">
                <a:solidFill>
                  <a:srgbClr val="222222"/>
                </a:solidFill>
              </a:rPr>
              <a:t>  •    Login button  →  MapScreen</a:t>
            </a:r>
          </a:p>
          <a:p>
            <a:pPr algn="l">
              <a:spcBef>
                <a:spcPts val="400"/>
              </a:spcBef>
            </a:pPr>
            <a:r>
              <a:rPr sz="1400">
                <a:solidFill>
                  <a:srgbClr val="222222"/>
                </a:solidFill>
              </a:rPr>
              <a:t>  •    Continue as Guest  →  MapScreen</a:t>
            </a:r>
          </a:p>
          <a:p>
            <a:pPr algn="l">
              <a:spcBef>
                <a:spcPts val="400"/>
              </a:spcBef>
            </a:pPr>
            <a:r>
              <a:rPr sz="1400">
                <a:solidFill>
                  <a:srgbClr val="222222"/>
                </a:solidFill>
              </a:rPr>
              <a:t>  •  </a:t>
            </a:r>
          </a:p>
          <a:p>
            <a:pPr algn="l">
              <a:spcBef>
                <a:spcPts val="400"/>
              </a:spcBef>
            </a:pPr>
            <a:r>
              <a:rPr sz="1400">
                <a:solidFill>
                  <a:srgbClr val="222222"/>
                </a:solidFill>
              </a:rPr>
              <a:t>  •  Design intent:</a:t>
            </a:r>
          </a:p>
          <a:p>
            <a:pPr algn="l">
              <a:spcBef>
                <a:spcPts val="400"/>
              </a:spcBef>
            </a:pPr>
            <a:r>
              <a:rPr sz="1400">
                <a:solidFill>
                  <a:srgbClr val="222222"/>
                </a:solidFill>
              </a:rPr>
              <a:t>  •    Clean, minimal layout — no distracting elements</a:t>
            </a:r>
          </a:p>
          <a:p>
            <a:pPr algn="l">
              <a:spcBef>
                <a:spcPts val="400"/>
              </a:spcBef>
            </a:pPr>
            <a:r>
              <a:rPr sz="1400">
                <a:solidFill>
                  <a:srgbClr val="222222"/>
                </a:solidFill>
              </a:rPr>
              <a:t>  •    Steel-blue colour palette consistent across all screens</a:t>
            </a:r>
          </a:p>
          <a:p>
            <a:pPr algn="l">
              <a:spcBef>
                <a:spcPts val="400"/>
              </a:spcBef>
            </a:pPr>
            <a:r>
              <a:rPr sz="1400">
                <a:solidFill>
                  <a:srgbClr val="222222"/>
                </a:solidFill>
              </a:rPr>
              <a:t>  •    Guest option prioritised for academic demo purposes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Screen 2 — Map &amp; Search</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Live Google Map centred on GPS location with restaurant markers and search</a:t>
            </a:r>
          </a:p>
        </p:txBody>
      </p:sp>
      <p:pic>
        <p:nvPicPr>
          <p:cNvPr id="4" name="Picture 3" descr="search feature.png"/>
          <p:cNvPicPr>
            <a:picLocks noChangeAspect="1"/>
          </p:cNvPicPr>
          <p:nvPr/>
        </p:nvPicPr>
        <p:blipFill>
          <a:blip r:embed="rId3"/>
          <a:stretch>
            <a:fillRect/>
          </a:stretch>
        </p:blipFill>
        <p:spPr>
          <a:xfrm>
            <a:off x="274320" y="1595887"/>
            <a:ext cx="2286000" cy="5120640"/>
          </a:xfrm>
          <a:prstGeom prst="rect">
            <a:avLst/>
          </a:prstGeom>
        </p:spPr>
      </p:pic>
      <p:sp>
        <p:nvSpPr>
          <p:cNvPr id="5" name="TextBox 4"/>
          <p:cNvSpPr txBox="1"/>
          <p:nvPr/>
        </p:nvSpPr>
        <p:spPr>
          <a:xfrm>
            <a:off x="2834640" y="1463040"/>
            <a:ext cx="6035040" cy="4937760"/>
          </a:xfrm>
          <a:prstGeom prst="rect">
            <a:avLst/>
          </a:prstGeom>
          <a:noFill/>
        </p:spPr>
        <p:txBody>
          <a:bodyPr wrap="square">
            <a:spAutoFit/>
          </a:bodyPr>
          <a:lstStyle/>
          <a:p>
            <a:pPr algn="l"/>
            <a:r>
              <a:rPr sz="1500" b="1">
                <a:solidFill>
                  <a:srgbClr val="2E3D6B"/>
                </a:solidFill>
              </a:rPr>
              <a:t>What This Screen Does</a:t>
            </a:r>
          </a:p>
          <a:p>
            <a:pPr algn="l">
              <a:spcBef>
                <a:spcPts val="400"/>
              </a:spcBef>
            </a:pPr>
            <a:r>
              <a:rPr sz="1300">
                <a:solidFill>
                  <a:srgbClr val="222222"/>
                </a:solidFill>
              </a:rPr>
              <a:t>  •  Google Map loads and centres on the device's live GPS coordinates</a:t>
            </a:r>
          </a:p>
          <a:p>
            <a:pPr algn="l">
              <a:spcBef>
                <a:spcPts val="400"/>
              </a:spcBef>
            </a:pPr>
            <a:r>
              <a:rPr sz="1300">
                <a:solidFill>
                  <a:srgbClr val="222222"/>
                </a:solidFill>
              </a:rPr>
              <a:t>  •  FusedLocationProviderClient provides battery-efficient location updates</a:t>
            </a:r>
          </a:p>
          <a:p>
            <a:pPr algn="l">
              <a:spcBef>
                <a:spcPts val="400"/>
              </a:spcBef>
            </a:pPr>
            <a:r>
              <a:rPr sz="1300">
                <a:solidFill>
                  <a:srgbClr val="222222"/>
                </a:solidFill>
              </a:rPr>
              <a:t>  •  Location permission requested at runtime via Accompanist Permissions</a:t>
            </a:r>
          </a:p>
          <a:p>
            <a:pPr algn="l">
              <a:spcBef>
                <a:spcPts val="400"/>
              </a:spcBef>
            </a:pPr>
            <a:r>
              <a:rPr sz="1300">
                <a:solidFill>
                  <a:srgbClr val="222222"/>
                </a:solidFill>
              </a:rPr>
              <a:t>  •  5 restaurant markers placed at seeded coordinate offsets from user position</a:t>
            </a:r>
          </a:p>
          <a:p>
            <a:pPr algn="l">
              <a:spcBef>
                <a:spcPts val="400"/>
              </a:spcBef>
            </a:pPr>
            <a:r>
              <a:rPr sz="1300">
                <a:solidFill>
                  <a:srgbClr val="222222"/>
                </a:solidFill>
              </a:rPr>
              <a:t>  •  Each marker stores a Restaurant object as its tag</a:t>
            </a:r>
          </a:p>
          <a:p>
            <a:pPr algn="l">
              <a:spcBef>
                <a:spcPts val="400"/>
              </a:spcBef>
            </a:pPr>
            <a:r>
              <a:rPr sz="1300">
                <a:solidFill>
                  <a:srgbClr val="222222"/>
                </a:solidFill>
              </a:rPr>
              <a:t>  •  </a:t>
            </a:r>
          </a:p>
          <a:p>
            <a:pPr algn="l">
              <a:spcBef>
                <a:spcPts val="400"/>
              </a:spcBef>
            </a:pPr>
            <a:r>
              <a:rPr sz="1300">
                <a:solidFill>
                  <a:srgbClr val="222222"/>
                </a:solidFill>
              </a:rPr>
              <a:t>  •  Search bar — Agentic AI powered  (Key Innovation):</a:t>
            </a:r>
          </a:p>
          <a:p>
            <a:pPr algn="l">
              <a:spcBef>
                <a:spcPts val="400"/>
              </a:spcBef>
            </a:pPr>
            <a:r>
              <a:rPr sz="1300">
                <a:solidFill>
                  <a:srgbClr val="222222"/>
                </a:solidFill>
              </a:rPr>
              <a:t>  •    Current:  keyword filter — matches by name or cuisine type in real-time</a:t>
            </a:r>
          </a:p>
          <a:p>
            <a:pPr algn="l">
              <a:spcBef>
                <a:spcPts val="400"/>
              </a:spcBef>
            </a:pPr>
            <a:r>
              <a:rPr sz="1300">
                <a:solidFill>
                  <a:srgbClr val="222222"/>
                </a:solidFill>
              </a:rPr>
              <a:t>  •    Planned:  Gemini API integration for natural language understanding</a:t>
            </a:r>
          </a:p>
          <a:p>
            <a:pPr algn="l">
              <a:spcBef>
                <a:spcPts val="400"/>
              </a:spcBef>
            </a:pPr>
            <a:r>
              <a:rPr sz="1300">
                <a:solidFill>
                  <a:srgbClr val="222222"/>
                </a:solidFill>
              </a:rPr>
              <a:t>  •    e.g.  "Best cheap food near me"  /  "Quiet cafe for studying"</a:t>
            </a:r>
          </a:p>
          <a:p>
            <a:pPr algn="l">
              <a:spcBef>
                <a:spcPts val="400"/>
              </a:spcBef>
            </a:pPr>
            <a:r>
              <a:rPr sz="1300">
                <a:solidFill>
                  <a:srgbClr val="222222"/>
                </a:solidFill>
              </a:rPr>
              <a:t>  •    AI extracts intent → cuisine, vibe, price range → ranks matched results</a:t>
            </a:r>
          </a:p>
          <a:p>
            <a:pPr algn="l">
              <a:spcBef>
                <a:spcPts val="400"/>
              </a:spcBef>
            </a:pPr>
            <a:r>
              <a:rPr sz="1300">
                <a:solidFill>
                  <a:srgbClr val="222222"/>
                </a:solidFill>
              </a:rPr>
              <a:t>  •    Genuine agentic behaviour: AI understands goal, not just keywords</a:t>
            </a:r>
          </a:p>
          <a:p>
            <a:pPr algn="l">
              <a:spcBef>
                <a:spcPts val="400"/>
              </a:spcBef>
            </a:pPr>
            <a:r>
              <a:rPr sz="1300">
                <a:solidFill>
                  <a:srgbClr val="222222"/>
                </a:solidFill>
              </a:rPr>
              <a:t>  •  </a:t>
            </a:r>
          </a:p>
          <a:p>
            <a:pPr algn="l">
              <a:spcBef>
                <a:spcPts val="400"/>
              </a:spcBef>
            </a:pPr>
            <a:r>
              <a:rPr sz="1300">
                <a:solidFill>
                  <a:srgbClr val="222222"/>
                </a:solidFill>
              </a:rPr>
              <a:t>  •  Tap any marker  →  navigate to Restaurant Detail screen</a:t>
            </a:r>
          </a:p>
          <a:p>
            <a:pPr algn="l">
              <a:spcBef>
                <a:spcPts val="400"/>
              </a:spcBef>
            </a:pPr>
            <a:r>
              <a:rPr sz="1300">
                <a:solidFill>
                  <a:srgbClr val="222222"/>
                </a:solidFill>
              </a:rPr>
              <a:t>  •  Back-stack managed automatically by Jetpack Navigation Compose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Screen 3 — Restaurant Detail</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Full info, video preview, and navigation — the app's key value screen</a:t>
            </a:r>
          </a:p>
        </p:txBody>
      </p:sp>
      <p:pic>
        <p:nvPicPr>
          <p:cNvPr id="4" name="Picture 3" descr="navigation to video and direction.png"/>
          <p:cNvPicPr>
            <a:picLocks noChangeAspect="1"/>
          </p:cNvPicPr>
          <p:nvPr/>
        </p:nvPicPr>
        <p:blipFill>
          <a:blip r:embed="rId3"/>
          <a:stretch>
            <a:fillRect/>
          </a:stretch>
        </p:blipFill>
        <p:spPr>
          <a:xfrm>
            <a:off x="274320" y="1371600"/>
            <a:ext cx="2286000" cy="5120640"/>
          </a:xfrm>
          <a:prstGeom prst="rect">
            <a:avLst/>
          </a:prstGeom>
        </p:spPr>
      </p:pic>
      <p:sp>
        <p:nvSpPr>
          <p:cNvPr id="5" name="TextBox 4"/>
          <p:cNvSpPr txBox="1"/>
          <p:nvPr/>
        </p:nvSpPr>
        <p:spPr>
          <a:xfrm>
            <a:off x="2834640" y="1463040"/>
            <a:ext cx="6035040" cy="4937760"/>
          </a:xfrm>
          <a:prstGeom prst="rect">
            <a:avLst/>
          </a:prstGeom>
          <a:noFill/>
        </p:spPr>
        <p:txBody>
          <a:bodyPr wrap="square">
            <a:spAutoFit/>
          </a:bodyPr>
          <a:lstStyle/>
          <a:p>
            <a:pPr algn="l"/>
            <a:r>
              <a:rPr sz="1500" b="1">
                <a:solidFill>
                  <a:srgbClr val="2E3D6B"/>
                </a:solidFill>
              </a:rPr>
              <a:t>What This Screen Does</a:t>
            </a:r>
          </a:p>
          <a:p>
            <a:pPr algn="l">
              <a:spcBef>
                <a:spcPts val="400"/>
              </a:spcBef>
            </a:pPr>
            <a:r>
              <a:rPr sz="1300">
                <a:solidFill>
                  <a:srgbClr val="222222"/>
                </a:solidFill>
              </a:rPr>
              <a:t>  •  TopAppBar with back arrow returns user to Map screen</a:t>
            </a:r>
          </a:p>
          <a:p>
            <a:pPr algn="l">
              <a:spcBef>
                <a:spcPts val="400"/>
              </a:spcBef>
            </a:pPr>
            <a:r>
              <a:rPr sz="1300">
                <a:solidFill>
                  <a:srgbClr val="222222"/>
                </a:solidFill>
              </a:rPr>
              <a:t>  •  Restaurant card shows:  cuisine type, address, star rating</a:t>
            </a:r>
          </a:p>
          <a:p>
            <a:pPr algn="l">
              <a:spcBef>
                <a:spcPts val="400"/>
              </a:spcBef>
            </a:pPr>
            <a:r>
              <a:rPr sz="1300">
                <a:solidFill>
                  <a:srgbClr val="222222"/>
                </a:solidFill>
              </a:rPr>
              <a:t>  •  Distance row:  pin icon + '450m away' (calculated from GPS delta)</a:t>
            </a:r>
          </a:p>
          <a:p>
            <a:pPr algn="l">
              <a:spcBef>
                <a:spcPts val="400"/>
              </a:spcBef>
            </a:pPr>
            <a:r>
              <a:rPr sz="1300">
                <a:solidFill>
                  <a:srgbClr val="222222"/>
                </a:solidFill>
              </a:rPr>
              <a:t>  •  </a:t>
            </a:r>
          </a:p>
          <a:p>
            <a:pPr algn="l">
              <a:spcBef>
                <a:spcPts val="400"/>
              </a:spcBef>
            </a:pPr>
            <a:r>
              <a:rPr sz="1300">
                <a:solidFill>
                  <a:srgbClr val="222222"/>
                </a:solidFill>
              </a:rPr>
              <a:t>  •  Watch Video Preview (filled button):</a:t>
            </a:r>
          </a:p>
          <a:p>
            <a:pPr algn="l">
              <a:spcBef>
                <a:spcPts val="400"/>
              </a:spcBef>
            </a:pPr>
            <a:r>
              <a:rPr sz="1300">
                <a:solidFill>
                  <a:srgbClr val="222222"/>
                </a:solidFill>
              </a:rPr>
              <a:t>  •    Opens a YouTube URL via Android Intent → YouTube app or browser</a:t>
            </a:r>
          </a:p>
          <a:p>
            <a:pPr algn="l">
              <a:spcBef>
                <a:spcPts val="400"/>
              </a:spcBef>
            </a:pPr>
            <a:r>
              <a:rPr sz="1300">
                <a:solidFill>
                  <a:srgbClr val="222222"/>
                </a:solidFill>
              </a:rPr>
              <a:t>  •    URL is stored per restaurant in the seeded data map</a:t>
            </a:r>
          </a:p>
          <a:p>
            <a:pPr algn="l">
              <a:spcBef>
                <a:spcPts val="400"/>
              </a:spcBef>
            </a:pPr>
            <a:r>
              <a:rPr sz="1300">
                <a:solidFill>
                  <a:srgbClr val="222222"/>
                </a:solidFill>
              </a:rPr>
              <a:t>  •    No WebView needed — native YouTube app handles playback</a:t>
            </a:r>
          </a:p>
          <a:p>
            <a:pPr algn="l">
              <a:spcBef>
                <a:spcPts val="400"/>
              </a:spcBef>
            </a:pPr>
            <a:r>
              <a:rPr sz="1300">
                <a:solidFill>
                  <a:srgbClr val="222222"/>
                </a:solidFill>
              </a:rPr>
              <a:t>  •  </a:t>
            </a:r>
          </a:p>
          <a:p>
            <a:pPr algn="l">
              <a:spcBef>
                <a:spcPts val="400"/>
              </a:spcBef>
            </a:pPr>
            <a:r>
              <a:rPr sz="1300">
                <a:solidFill>
                  <a:srgbClr val="222222"/>
                </a:solidFill>
              </a:rPr>
              <a:t>  •  Get Directions (outlined button):</a:t>
            </a:r>
          </a:p>
          <a:p>
            <a:pPr algn="l">
              <a:spcBef>
                <a:spcPts val="400"/>
              </a:spcBef>
            </a:pPr>
            <a:r>
              <a:rPr sz="1300">
                <a:solidFill>
                  <a:srgbClr val="222222"/>
                </a:solidFill>
              </a:rPr>
              <a:t>  •    Builds a maps.google.com URL with the restaurant's lat/lng as destination</a:t>
            </a:r>
          </a:p>
          <a:p>
            <a:pPr algn="l">
              <a:spcBef>
                <a:spcPts val="400"/>
              </a:spcBef>
            </a:pPr>
            <a:r>
              <a:rPr sz="1300">
                <a:solidFill>
                  <a:srgbClr val="222222"/>
                </a:solidFill>
              </a:rPr>
              <a:t>  •    Fires an implicit Intent — Google Maps app opens with turn-by-turn route</a:t>
            </a:r>
          </a:p>
          <a:p>
            <a:pPr algn="l">
              <a:spcBef>
                <a:spcPts val="400"/>
              </a:spcBef>
            </a:pPr>
            <a:r>
              <a:rPr sz="1300">
                <a:solidFill>
                  <a:srgbClr val="222222"/>
                </a:solidFill>
              </a:rPr>
              <a:t>  •  </a:t>
            </a:r>
          </a:p>
          <a:p>
            <a:pPr algn="l">
              <a:spcBef>
                <a:spcPts val="400"/>
              </a:spcBef>
            </a:pPr>
            <a:r>
              <a:rPr sz="1300">
                <a:solidFill>
                  <a:srgbClr val="222222"/>
                </a:solidFill>
              </a:rPr>
              <a:t>  •  Both buttons demonstrated working on the emulator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4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234440"/>
          </a:xfrm>
          <a:prstGeom prst="rect">
            <a:avLst/>
          </a:prstGeom>
          <a:solidFill>
            <a:srgbClr val="2E3D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800" b="1">
                <a:solidFill>
                  <a:srgbClr val="FFFFFF"/>
                </a:solidFill>
              </a:rPr>
              <a:t>Progress Summary &amp; What's Next</a:t>
            </a:r>
          </a:p>
        </p:txBody>
      </p:sp>
      <p:sp>
        <p:nvSpPr>
          <p:cNvPr id="3" name="TextBox 2"/>
          <p:cNvSpPr txBox="1"/>
          <p:nvPr/>
        </p:nvSpPr>
        <p:spPr>
          <a:xfrm>
            <a:off x="320040" y="1280160"/>
            <a:ext cx="8503920" cy="411480"/>
          </a:xfrm>
          <a:prstGeom prst="rect">
            <a:avLst/>
          </a:prstGeom>
          <a:noFill/>
        </p:spPr>
        <p:txBody>
          <a:bodyPr wrap="square">
            <a:spAutoFit/>
          </a:bodyPr>
          <a:lstStyle/>
          <a:p>
            <a:pPr algn="l"/>
            <a:r>
              <a:rPr sz="1400" b="0">
                <a:solidFill>
                  <a:srgbClr val="4A6FA5"/>
                </a:solidFill>
              </a:rPr>
              <a:t>Phases completed vs. remaining work</a:t>
            </a:r>
          </a:p>
        </p:txBody>
      </p:sp>
      <p:sp>
        <p:nvSpPr>
          <p:cNvPr id="4" name="Rectangle 3"/>
          <p:cNvSpPr/>
          <p:nvPr/>
        </p:nvSpPr>
        <p:spPr>
          <a:xfrm>
            <a:off x="274320" y="1737360"/>
            <a:ext cx="2651760" cy="1234440"/>
          </a:xfrm>
          <a:prstGeom prst="rect">
            <a:avLst/>
          </a:prstGeom>
          <a:solidFill>
            <a:srgbClr val="E8F5E9"/>
          </a:solidFill>
          <a:ln>
            <a:solidFill>
              <a:srgbClr val="27AE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7AE60"/>
                </a:solidFill>
              </a:rPr>
              <a:t>DONE  Phase 1</a:t>
            </a:r>
          </a:p>
          <a:p>
            <a:r>
              <a:rPr sz="1000">
                <a:solidFill>
                  <a:srgbClr val="222222"/>
                </a:solidFill>
              </a:rPr>
              <a:t>Project scaffold, Gradle, API keys</a:t>
            </a:r>
          </a:p>
        </p:txBody>
      </p:sp>
      <p:sp>
        <p:nvSpPr>
          <p:cNvPr id="5" name="Rectangle 4"/>
          <p:cNvSpPr/>
          <p:nvPr/>
        </p:nvSpPr>
        <p:spPr>
          <a:xfrm>
            <a:off x="3108960" y="1737360"/>
            <a:ext cx="2651760" cy="1234440"/>
          </a:xfrm>
          <a:prstGeom prst="rect">
            <a:avLst/>
          </a:prstGeom>
          <a:solidFill>
            <a:srgbClr val="E8F5E9"/>
          </a:solidFill>
          <a:ln>
            <a:solidFill>
              <a:srgbClr val="27AE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7AE60"/>
                </a:solidFill>
              </a:rPr>
              <a:t>DONE  Phase 2</a:t>
            </a:r>
          </a:p>
          <a:p>
            <a:r>
              <a:rPr sz="1000">
                <a:solidFill>
                  <a:srgbClr val="222222"/>
                </a:solidFill>
              </a:rPr>
              <a:t>Google Maps + GPS centering</a:t>
            </a:r>
          </a:p>
        </p:txBody>
      </p:sp>
      <p:sp>
        <p:nvSpPr>
          <p:cNvPr id="6" name="Rectangle 5"/>
          <p:cNvSpPr/>
          <p:nvPr/>
        </p:nvSpPr>
        <p:spPr>
          <a:xfrm>
            <a:off x="5943600" y="1737360"/>
            <a:ext cx="2651760" cy="1234440"/>
          </a:xfrm>
          <a:prstGeom prst="rect">
            <a:avLst/>
          </a:prstGeom>
          <a:solidFill>
            <a:srgbClr val="E8F5E9"/>
          </a:solidFill>
          <a:ln>
            <a:solidFill>
              <a:srgbClr val="27AE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7AE60"/>
                </a:solidFill>
              </a:rPr>
              <a:t>DONE  Phase 3</a:t>
            </a:r>
          </a:p>
          <a:p>
            <a:r>
              <a:rPr sz="1000">
                <a:solidFill>
                  <a:srgbClr val="222222"/>
                </a:solidFill>
              </a:rPr>
              <a:t>Restaurant markers (seeded data)</a:t>
            </a:r>
          </a:p>
        </p:txBody>
      </p:sp>
      <p:sp>
        <p:nvSpPr>
          <p:cNvPr id="7" name="Rectangle 6"/>
          <p:cNvSpPr/>
          <p:nvPr/>
        </p:nvSpPr>
        <p:spPr>
          <a:xfrm>
            <a:off x="274320" y="3154680"/>
            <a:ext cx="2651760" cy="1234440"/>
          </a:xfrm>
          <a:prstGeom prst="rect">
            <a:avLst/>
          </a:prstGeom>
          <a:solidFill>
            <a:srgbClr val="E8F5E9"/>
          </a:solidFill>
          <a:ln>
            <a:solidFill>
              <a:srgbClr val="27AE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7AE60"/>
                </a:solidFill>
              </a:rPr>
              <a:t>DONE  Phase 4</a:t>
            </a:r>
          </a:p>
          <a:p>
            <a:r>
              <a:rPr sz="1000">
                <a:solidFill>
                  <a:srgbClr val="222222"/>
                </a:solidFill>
              </a:rPr>
              <a:t>Detail screen: video + directions</a:t>
            </a:r>
          </a:p>
        </p:txBody>
      </p:sp>
      <p:sp>
        <p:nvSpPr>
          <p:cNvPr id="8" name="Rectangle 7"/>
          <p:cNvSpPr/>
          <p:nvPr/>
        </p:nvSpPr>
        <p:spPr>
          <a:xfrm>
            <a:off x="3108960" y="3154680"/>
            <a:ext cx="2651760" cy="1234440"/>
          </a:xfrm>
          <a:prstGeom prst="rect">
            <a:avLst/>
          </a:prstGeom>
          <a:solidFill>
            <a:srgbClr val="F5F5F5"/>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888888"/>
                </a:solidFill>
              </a:rPr>
              <a:t>TODO  Phase 5</a:t>
            </a:r>
          </a:p>
          <a:p>
            <a:r>
              <a:rPr sz="1000">
                <a:solidFill>
                  <a:srgbClr val="222222"/>
                </a:solidFill>
              </a:rPr>
              <a:t>Live Google Places API integration</a:t>
            </a:r>
          </a:p>
        </p:txBody>
      </p:sp>
      <p:sp>
        <p:nvSpPr>
          <p:cNvPr id="9" name="Rectangle 8"/>
          <p:cNvSpPr/>
          <p:nvPr/>
        </p:nvSpPr>
        <p:spPr>
          <a:xfrm>
            <a:off x="5943600" y="3154680"/>
            <a:ext cx="2651760" cy="1234440"/>
          </a:xfrm>
          <a:prstGeom prst="rect">
            <a:avLst/>
          </a:prstGeom>
          <a:solidFill>
            <a:srgbClr val="F5F5F5"/>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888888"/>
                </a:solidFill>
              </a:rPr>
              <a:t>TODO  Phase 6</a:t>
            </a:r>
          </a:p>
          <a:p>
            <a:r>
              <a:rPr sz="1000">
                <a:solidFill>
                  <a:srgbClr val="222222"/>
                </a:solidFill>
              </a:rPr>
              <a:t>Firebase Auth (login / register)</a:t>
            </a:r>
          </a:p>
        </p:txBody>
      </p:sp>
      <p:sp>
        <p:nvSpPr>
          <p:cNvPr id="10" name="Rectangle 9"/>
          <p:cNvSpPr/>
          <p:nvPr/>
        </p:nvSpPr>
        <p:spPr>
          <a:xfrm>
            <a:off x="274320" y="4572000"/>
            <a:ext cx="2651760" cy="1234440"/>
          </a:xfrm>
          <a:prstGeom prst="rect">
            <a:avLst/>
          </a:prstGeom>
          <a:solidFill>
            <a:srgbClr val="F5F5F5"/>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888888"/>
                </a:solidFill>
              </a:rPr>
              <a:t>TODO  Phase 7</a:t>
            </a:r>
          </a:p>
          <a:p>
            <a:r>
              <a:rPr sz="1000">
                <a:solidFill>
                  <a:srgbClr val="222222"/>
                </a:solidFill>
              </a:rPr>
              <a:t>UI polish, loading states, error handling</a:t>
            </a:r>
          </a:p>
        </p:txBody>
      </p:sp>
      <p:sp>
        <p:nvSpPr>
          <p:cNvPr id="11" name="Rectangle 10"/>
          <p:cNvSpPr/>
          <p:nvPr/>
        </p:nvSpPr>
        <p:spPr>
          <a:xfrm>
            <a:off x="3108960" y="4572000"/>
            <a:ext cx="2651760" cy="1234440"/>
          </a:xfrm>
          <a:prstGeom prst="rect">
            <a:avLst/>
          </a:prstGeom>
          <a:solidFill>
            <a:srgbClr val="F5F5F5"/>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888888"/>
                </a:solidFill>
              </a:rPr>
              <a:t>TODO  Phase 8</a:t>
            </a:r>
          </a:p>
          <a:p>
            <a:r>
              <a:rPr sz="1000">
                <a:solidFill>
                  <a:srgbClr val="222222"/>
                </a:solidFill>
              </a:rPr>
              <a:t>Bottom nav bar, Home &amp; Utility screens</a:t>
            </a:r>
          </a:p>
        </p:txBody>
      </p:sp>
      <p:sp>
        <p:nvSpPr>
          <p:cNvPr id="12" name="Rectangle 11"/>
          <p:cNvSpPr/>
          <p:nvPr/>
        </p:nvSpPr>
        <p:spPr>
          <a:xfrm>
            <a:off x="5943600" y="4572000"/>
            <a:ext cx="2651760" cy="1234440"/>
          </a:xfrm>
          <a:prstGeom prst="rect">
            <a:avLst/>
          </a:prstGeom>
          <a:solidFill>
            <a:srgbClr val="F5F5F5"/>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888888"/>
                </a:solidFill>
              </a:rPr>
              <a:t>TODO  Phase 9</a:t>
            </a:r>
          </a:p>
          <a:p>
            <a:r>
              <a:rPr sz="1000">
                <a:solidFill>
                  <a:srgbClr val="222222"/>
                </a:solidFill>
              </a:rPr>
              <a:t>Final dissertation report writing</a:t>
            </a:r>
          </a:p>
        </p:txBody>
      </p:sp>
      <p:sp>
        <p:nvSpPr>
          <p:cNvPr id="13" name="TextBox 12"/>
          <p:cNvSpPr txBox="1"/>
          <p:nvPr/>
        </p:nvSpPr>
        <p:spPr>
          <a:xfrm>
            <a:off x="274320" y="5989320"/>
            <a:ext cx="8595360" cy="502920"/>
          </a:xfrm>
          <a:prstGeom prst="rect">
            <a:avLst/>
          </a:prstGeom>
          <a:noFill/>
        </p:spPr>
        <p:txBody>
          <a:bodyPr wrap="square">
            <a:spAutoFit/>
          </a:bodyPr>
          <a:lstStyle/>
          <a:p>
            <a:pPr algn="l"/>
            <a:r>
              <a:rPr sz="1300" b="1">
                <a:solidFill>
                  <a:srgbClr val="4A6FA5"/>
                </a:solidFill>
              </a:rPr>
              <a:t>Immediate next step:  replace seeded restaurant data with live Google Places API Nearby Search calls.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2556</Words>
  <Application>Microsoft Office PowerPoint</Application>
  <PresentationFormat>On-screen Show (4:3)</PresentationFormat>
  <Paragraphs>157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ACHC</cp:lastModifiedBy>
  <cp:revision>3</cp:revision>
  <dcterms:created xsi:type="dcterms:W3CDTF">2013-01-27T09:14:16Z</dcterms:created>
  <dcterms:modified xsi:type="dcterms:W3CDTF">2026-06-04T07:24:12Z</dcterms:modified>
  <cp:category/>
</cp:coreProperties>
</file>