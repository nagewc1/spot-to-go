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3" r:id="rId1"/>
  </p:sldMasterIdLst>
  <p:notesMasterIdLst>
    <p:notesMasterId r:id="rId15"/>
  </p:notesMasterIdLst>
  <p:handoutMasterIdLst>
    <p:handoutMasterId r:id="rId16"/>
  </p:handoutMasterIdLst>
  <p:sldIdLst>
    <p:sldId id="834" r:id="rId2"/>
    <p:sldId id="895" r:id="rId3"/>
    <p:sldId id="896" r:id="rId4"/>
    <p:sldId id="897" r:id="rId5"/>
    <p:sldId id="898" r:id="rId6"/>
    <p:sldId id="900" r:id="rId7"/>
    <p:sldId id="907" r:id="rId8"/>
    <p:sldId id="901" r:id="rId9"/>
    <p:sldId id="902" r:id="rId10"/>
    <p:sldId id="903" r:id="rId11"/>
    <p:sldId id="904" r:id="rId12"/>
    <p:sldId id="905" r:id="rId13"/>
    <p:sldId id="906" r:id="rId14"/>
  </p:sldIdLst>
  <p:sldSz cx="9144000" cy="6858000" type="screen4x3"/>
  <p:notesSz cx="6797675" cy="992822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5 Apr - 22 Apr 2024" id="{E314ED05-3171-4E21-874A-C6F27B23C6FD}">
          <p14:sldIdLst>
            <p14:sldId id="834"/>
            <p14:sldId id="895"/>
            <p14:sldId id="896"/>
            <p14:sldId id="897"/>
            <p14:sldId id="898"/>
            <p14:sldId id="900"/>
            <p14:sldId id="907"/>
          </p14:sldIdLst>
        </p14:section>
        <p14:section name="11-Oct-2023" id="{FC326422-0757-454E-981C-31F2C251ABD4}">
          <p14:sldIdLst>
            <p14:sldId id="901"/>
            <p14:sldId id="902"/>
            <p14:sldId id="903"/>
            <p14:sldId id="904"/>
            <p14:sldId id="905"/>
            <p14:sldId id="9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3"/>
    <a:srgbClr val="FFFF66"/>
    <a:srgbClr val="CBA9E5"/>
    <a:srgbClr val="B6DF89"/>
    <a:srgbClr val="FF00FF"/>
    <a:srgbClr val="FF3399"/>
    <a:srgbClr val="0432FF"/>
    <a:srgbClr val="FFFF00"/>
    <a:srgbClr val="BB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387" autoAdjust="0"/>
  </p:normalViewPr>
  <p:slideViewPr>
    <p:cSldViewPr>
      <p:cViewPr varScale="1">
        <p:scale>
          <a:sx n="121" d="100"/>
          <a:sy n="121" d="100"/>
        </p:scale>
        <p:origin x="1680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14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3DA8A-A077-479B-8E53-2623908510DE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7FBDFA-69D8-4BDD-882A-8E0CF4831A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668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A75D8-E72B-463D-9CD6-A13B7BE75328}" type="datetimeFigureOut">
              <a:rPr lang="zh-TW" altLang="en-US" smtClean="0"/>
              <a:t>2025/10/9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ECFAFC-774C-44F1-8627-2F2848B8368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38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6B2CF12-DB6C-4AA5-A68A-5E5F13459CDE}" type="slidenum">
              <a:rPr lang="en-GB" altLang="en-US" sz="1300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1</a:t>
            </a:fld>
            <a:endParaRPr lang="en-GB" altLang="en-US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Section one takes about ? min. </a:t>
            </a:r>
            <a:endParaRPr lang="en-US" altLang="en-US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baseline="0" dirty="0">
                <a:latin typeface="Arial" panose="020B0604020202020204" pitchFamily="34" charset="0"/>
                <a:cs typeface="Arial" panose="020B0604020202020204" pitchFamily="34" charset="0"/>
              </a:rPr>
              <a:t>Section two takes about ? min.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279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6B2CF12-DB6C-4AA5-A68A-5E5F13459CDE}" type="slidenum">
              <a:rPr lang="en-GB" altLang="en-US" sz="1300">
                <a:solidFill>
                  <a:schemeClr val="tx1"/>
                </a:solidFill>
                <a:latin typeface="Arial" panose="020B0604020202020204" pitchFamily="34" charset="0"/>
              </a:rPr>
              <a:pPr eaLnBrk="1" hangingPunct="1"/>
              <a:t>8</a:t>
            </a:fld>
            <a:endParaRPr lang="en-GB" altLang="en-US" sz="13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Section one takes about ? min. </a:t>
            </a:r>
            <a:endParaRPr lang="en-US" altLang="en-US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baseline="0" dirty="0">
                <a:latin typeface="Arial" panose="020B0604020202020204" pitchFamily="34" charset="0"/>
                <a:cs typeface="Arial" panose="020B0604020202020204" pitchFamily="34" charset="0"/>
              </a:rPr>
              <a:t>Section two takes about ? min.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39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3000" b="1" i="0"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defRPr>
            </a:lvl1pPr>
          </a:lstStyle>
          <a:p>
            <a:pPr lvl="0"/>
            <a:r>
              <a:rPr lang="en-US" altLang="zh-TW" noProof="0" dirty="0"/>
              <a:t>Title</a:t>
            </a:r>
            <a:endParaRPr lang="en-US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noProof="0" dirty="0"/>
              <a:t>name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>
                <a:solidFill>
                  <a:prstClr val="black"/>
                </a:solidFill>
              </a:rPr>
              <a:t>© copyright UEA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fld id="{C7E5EE11-B15A-4C57-86DE-6B49DE778508}" type="slidenum">
              <a:rPr lang="en-US" smtClean="0">
                <a:solidFill>
                  <a:prstClr val="black"/>
                </a:solidFill>
              </a:rPr>
              <a:pPr algn="ctr"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6392" name="Rectangle 8" descr="Gold bar"/>
          <p:cNvSpPr>
            <a:spLocks noChangeArrowheads="1"/>
          </p:cNvSpPr>
          <p:nvPr/>
        </p:nvSpPr>
        <p:spPr bwMode="auto">
          <a:xfrm>
            <a:off x="228600" y="2889258"/>
            <a:ext cx="2870200" cy="2016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393" name="Rectangle 9" descr="Orange bar"/>
          <p:cNvSpPr>
            <a:spLocks noChangeArrowheads="1"/>
          </p:cNvSpPr>
          <p:nvPr/>
        </p:nvSpPr>
        <p:spPr bwMode="auto">
          <a:xfrm>
            <a:off x="3098802" y="2889258"/>
            <a:ext cx="2870200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394" name="Rectangle 10" descr="Slate bar"/>
          <p:cNvSpPr>
            <a:spLocks noChangeArrowheads="1"/>
          </p:cNvSpPr>
          <p:nvPr/>
        </p:nvSpPr>
        <p:spPr bwMode="auto">
          <a:xfrm>
            <a:off x="5969001" y="2889258"/>
            <a:ext cx="2870200" cy="2016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69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08451"/>
            <a:ext cx="8229600" cy="918931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TW" dirty="0"/>
              <a:t>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spcAft>
                <a:spcPts val="600"/>
              </a:spcAft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spcAft>
                <a:spcPts val="600"/>
              </a:spcAft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spcAft>
                <a:spcPts val="600"/>
              </a:spcAft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spcAft>
                <a:spcPts val="600"/>
              </a:spcAft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>
                <a:solidFill>
                  <a:prstClr val="black"/>
                </a:solidFill>
              </a:rPr>
              <a:t>© copyright UEA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250000"/>
              </a:lnSpc>
              <a:defRPr sz="1100"/>
            </a:lvl1pPr>
          </a:lstStyle>
          <a:p>
            <a:pPr algn="ctr"/>
            <a:fld id="{E02DC983-A656-4310-B853-8C30532C0C2A}" type="slidenum">
              <a:rPr lang="en-US" smtClean="0">
                <a:solidFill>
                  <a:prstClr val="black"/>
                </a:solidFill>
              </a:rPr>
              <a:pPr algn="ctr"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65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3072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3072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>
                <a:solidFill>
                  <a:prstClr val="black"/>
                </a:solidFill>
              </a:rPr>
              <a:t>© copyright UEA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fld id="{6EBD3ABE-E84C-4691-9D2F-4A05684F6767}" type="slidenum">
              <a:rPr lang="en-US" smtClean="0">
                <a:solidFill>
                  <a:prstClr val="black"/>
                </a:solidFill>
              </a:rPr>
              <a:pPr algn="ctr"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533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>
                <a:solidFill>
                  <a:prstClr val="black"/>
                </a:solidFill>
              </a:rPr>
              <a:t>© copyright UEA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fld id="{56C5A564-8724-4135-A767-94587534F063}" type="slidenum">
              <a:rPr lang="en-US" smtClean="0">
                <a:solidFill>
                  <a:prstClr val="black"/>
                </a:solidFill>
              </a:rPr>
              <a:pPr algn="ctr"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矩形 4"/>
          <p:cNvSpPr/>
          <p:nvPr userDrawn="1"/>
        </p:nvSpPr>
        <p:spPr bwMode="auto">
          <a:xfrm>
            <a:off x="395536" y="1268760"/>
            <a:ext cx="828092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06094"/>
            <a:ext cx="8229600" cy="918931"/>
          </a:xfrm>
        </p:spPr>
        <p:txBody>
          <a:bodyPr/>
          <a:lstStyle>
            <a:lvl1pPr algn="ctr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zh-TW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620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>
                <a:solidFill>
                  <a:prstClr val="black"/>
                </a:solidFill>
              </a:rPr>
              <a:t>© copyright UEA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8C5AAA5D-B21B-4936-B6F8-2D44BC7C7030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091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21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Title</a:t>
            </a:r>
            <a:endParaRPr 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336"/>
            <a:ext cx="2133600" cy="252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75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>
                <a:solidFill>
                  <a:prstClr val="black"/>
                </a:solidFill>
              </a:rPr>
              <a:t>© copyright UEA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29000" y="6283337"/>
            <a:ext cx="2133600" cy="407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250000"/>
              </a:lnSpc>
              <a:defRPr sz="1000"/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fld id="{871C88EC-66AB-47BF-AFDF-0695C6489FF9}" type="slidenum">
              <a:rPr lang="en-US" smtClean="0">
                <a:solidFill>
                  <a:prstClr val="black"/>
                </a:solidFill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5367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5369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5370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" name="矩形 1"/>
          <p:cNvSpPr/>
          <p:nvPr userDrawn="1"/>
        </p:nvSpPr>
        <p:spPr bwMode="auto">
          <a:xfrm>
            <a:off x="0" y="-7315"/>
            <a:ext cx="342029" cy="6858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100392" y="6230382"/>
            <a:ext cx="962907" cy="57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32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4" r:id="rId1"/>
    <p:sldLayoutId id="2147484225" r:id="rId2"/>
    <p:sldLayoutId id="2147484227" r:id="rId3"/>
    <p:sldLayoutId id="2147484230" r:id="rId4"/>
    <p:sldLayoutId id="2147484231" r:id="rId5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5pPr>
      <a:lvl6pPr marL="342892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7pPr>
      <a:lvl8pPr marL="1028675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sz="21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18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marL="857228" indent="-171446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sz="15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marL="1200120" indent="-171446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1885903" indent="-171446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914577" indent="-171446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Verdana" panose="020B0604030504040204" pitchFamily="34" charset="0"/>
              </a:rPr>
              <a:t>© copyright UEA</a:t>
            </a:r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r>
              <a:rPr lang="en-GB" altLang="en-US" sz="1400">
                <a:latin typeface="Times New Roman" panose="02020603050405020304" pitchFamily="18" charset="0"/>
              </a:rPr>
              <a:t>slide </a:t>
            </a:r>
            <a:fld id="{1010D064-77DF-4B55-80BD-1876EBCED9D8}" type="slidenum">
              <a:rPr lang="en-GB" altLang="en-US" sz="1400">
                <a:latin typeface="Times New Roman" panose="02020603050405020304" pitchFamily="18" charset="0"/>
              </a:rPr>
              <a:pPr/>
              <a:t>1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2" y="1052736"/>
            <a:ext cx="8784976" cy="1537518"/>
          </a:xfrm>
        </p:spPr>
        <p:txBody>
          <a:bodyPr/>
          <a:lstStyle/>
          <a:p>
            <a:r>
              <a:rPr lang="en-GB" altLang="en-US" sz="4400" dirty="0"/>
              <a:t>Progress Report</a:t>
            </a:r>
            <a:br>
              <a:rPr lang="en-GB" altLang="en-US" sz="3200" dirty="0"/>
            </a:br>
            <a:r>
              <a:rPr lang="en-GB" altLang="en-US" sz="3200" dirty="0"/>
              <a:t>9 Oct-15 Oct 2025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7624" y="4077072"/>
            <a:ext cx="6912768" cy="1800200"/>
          </a:xfrm>
        </p:spPr>
        <p:txBody>
          <a:bodyPr/>
          <a:lstStyle/>
          <a:p>
            <a:r>
              <a:rPr lang="en-GB" altLang="en-US" b="1" dirty="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rPr>
              <a:t>For example: Adam Cook</a:t>
            </a:r>
            <a:br>
              <a:rPr lang="en-GB" altLang="en-US" b="1" dirty="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rPr>
            </a:br>
            <a:r>
              <a:rPr lang="en-GB" altLang="en-US" b="1" dirty="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rPr>
              <a:t>University of East Anglia</a:t>
            </a:r>
          </a:p>
          <a:p>
            <a:r>
              <a:rPr lang="en-GB" altLang="en-US" b="1" dirty="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rPr>
              <a:t>15-Oct-2025</a:t>
            </a:r>
          </a:p>
        </p:txBody>
      </p:sp>
    </p:spTree>
    <p:extLst>
      <p:ext uri="{BB962C8B-B14F-4D97-AF65-F5344CB8AC3E}">
        <p14:creationId xmlns:p14="http://schemas.microsoft.com/office/powerpoint/2010/main" val="3093261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Plan Of The Last Meeting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07-Feb-18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F5A669-E021-420B-B33A-88CB5B8E39F6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280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Progress Overview For The Last Week</a:t>
            </a:r>
            <a:endParaRPr lang="zh-TW" alt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Task one  </a:t>
            </a:r>
          </a:p>
          <a:p>
            <a:pPr lvl="1"/>
            <a:r>
              <a:rPr lang="en-GB" altLang="zh-TW" dirty="0">
                <a:solidFill>
                  <a:srgbClr val="C00000"/>
                </a:solidFill>
              </a:rPr>
              <a:t>In this slide, please use strike line and grey </a:t>
            </a:r>
            <a:r>
              <a:rPr lang="en-GB" altLang="zh-TW" dirty="0" err="1">
                <a:solidFill>
                  <a:srgbClr val="C00000"/>
                </a:solidFill>
              </a:rPr>
              <a:t>color</a:t>
            </a:r>
            <a:r>
              <a:rPr lang="en-GB" altLang="zh-TW" dirty="0">
                <a:solidFill>
                  <a:srgbClr val="C00000"/>
                </a:solidFill>
              </a:rPr>
              <a:t> to mark finished tasks</a:t>
            </a:r>
          </a:p>
          <a:p>
            <a:pPr lvl="1"/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Subtask 2</a:t>
            </a:r>
          </a:p>
          <a:p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Task two</a:t>
            </a:r>
          </a:p>
          <a:p>
            <a:pPr lvl="1"/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Subtask 1</a:t>
            </a:r>
          </a:p>
          <a:p>
            <a:pPr lvl="1"/>
            <a:r>
              <a:rPr lang="en-US" altLang="zh-TW" dirty="0"/>
              <a:t>Subtask 2</a:t>
            </a:r>
          </a:p>
          <a:p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Task three</a:t>
            </a:r>
          </a:p>
          <a:p>
            <a:pPr lvl="1"/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Subtask 1</a:t>
            </a:r>
          </a:p>
          <a:p>
            <a:pPr lvl="1"/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Subtask 2</a:t>
            </a:r>
          </a:p>
          <a:p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6C0DD9-7BCE-4413-BE54-9A75DE555C7B}" type="datetime1">
              <a:rPr lang="en-US" altLang="zh-TW" smtClean="0"/>
              <a:pPr>
                <a:defRPr/>
              </a:pPr>
              <a:t>10/9/2025</a:t>
            </a:fld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F5A669-E021-420B-B33A-88CB5B8E39F6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6849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Progress For The Last Week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Task one…..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In this slide, please explain finished task one in detail.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6C0DD9-7BCE-4413-BE54-9A75DE555C7B}" type="datetime1">
              <a:rPr lang="en-US" altLang="zh-TW" smtClean="0"/>
              <a:pPr>
                <a:defRPr/>
              </a:pPr>
              <a:t>10/9/2025</a:t>
            </a:fld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F5A669-E021-420B-B33A-88CB5B8E39F6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3700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Progress For The Last Week (cont.)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Task two…</a:t>
            </a:r>
          </a:p>
          <a:p>
            <a:r>
              <a:rPr lang="en-GB" altLang="zh-TW" dirty="0">
                <a:solidFill>
                  <a:srgbClr val="C00000"/>
                </a:solidFill>
              </a:rPr>
              <a:t>In this slide, please explain finished task two in detail.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6C0DD9-7BCE-4413-BE54-9A75DE555C7B}" type="datetime1">
              <a:rPr lang="en-US" altLang="zh-TW" smtClean="0"/>
              <a:pPr>
                <a:defRPr/>
              </a:pPr>
              <a:t>10/9/2025</a:t>
            </a:fld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F5A669-E021-420B-B33A-88CB5B8E39F6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8249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Actions for the Next Week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/>
              <a:t>Milestones (100%)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Literature review, due on </a:t>
            </a:r>
            <a:r>
              <a:rPr lang="en-US" altLang="zh-TW" dirty="0">
                <a:solidFill>
                  <a:srgbClr val="FF0000"/>
                </a:solidFill>
              </a:rPr>
              <a:t>31 Oct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Progress report (10%), due on </a:t>
            </a:r>
            <a:r>
              <a:rPr lang="en-US" altLang="zh-TW" dirty="0">
                <a:solidFill>
                  <a:srgbClr val="FF0000"/>
                </a:solidFill>
              </a:rPr>
              <a:t>11 Dec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Project Inspection (20%), 26</a:t>
            </a:r>
            <a:r>
              <a:rPr lang="en-US" altLang="zh-TW" baseline="30000" dirty="0"/>
              <a:t>th</a:t>
            </a:r>
            <a:r>
              <a:rPr lang="en-US" altLang="zh-TW" dirty="0"/>
              <a:t> May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Report (65%), due on 18 May</a:t>
            </a:r>
          </a:p>
          <a:p>
            <a:pPr>
              <a:spcBef>
                <a:spcPts val="0"/>
              </a:spcBef>
            </a:pPr>
            <a:r>
              <a:rPr lang="en-US" altLang="zh-TW" dirty="0"/>
              <a:t>Use the progress report template</a:t>
            </a:r>
          </a:p>
          <a:p>
            <a:pPr>
              <a:spcBef>
                <a:spcPts val="0"/>
              </a:spcBef>
            </a:pPr>
            <a:r>
              <a:rPr lang="en-US" altLang="zh-TW" dirty="0"/>
              <a:t>Progress report </a:t>
            </a:r>
            <a:r>
              <a:rPr lang="en-US" altLang="zh-TW" dirty="0">
                <a:solidFill>
                  <a:srgbClr val="FF0000"/>
                </a:solidFill>
              </a:rPr>
              <a:t>11 Dec.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Intro 10%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Research objective/aim 25%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Literature review 25%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Project design 15%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Implementation (skill learned for finding a job) 20%</a:t>
            </a:r>
          </a:p>
          <a:p>
            <a:pPr>
              <a:spcBef>
                <a:spcPts val="0"/>
              </a:spcBef>
            </a:pPr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6C0DD9-7BCE-4413-BE54-9A75DE555C7B}" type="datetime1">
              <a:rPr lang="en-US" altLang="zh-TW" smtClean="0"/>
              <a:pPr>
                <a:defRPr/>
              </a:pPr>
              <a:t>10/9/2025</a:t>
            </a:fld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F5A669-E021-420B-B33A-88CB5B8E39F6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3235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AAF8A-320C-4F88-CEAA-80EA17C59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74DC2-AAF4-9A34-C6C0-D92F4C4BB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Actions for the Next Week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2DCBD-57EA-B27E-9539-004208707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/>
              <a:t>Literature review 25% </a:t>
            </a:r>
            <a:r>
              <a:rPr lang="en-US" altLang="zh-TW" dirty="0">
                <a:solidFill>
                  <a:srgbClr val="FF0000"/>
                </a:solidFill>
              </a:rPr>
              <a:t>31 Oct (2 pages per week)</a:t>
            </a:r>
          </a:p>
          <a:p>
            <a:pPr>
              <a:spcBef>
                <a:spcPts val="0"/>
              </a:spcBef>
            </a:pPr>
            <a:r>
              <a:rPr lang="en-US" altLang="zh-TW" dirty="0"/>
              <a:t>Prepare and write for Literature review </a:t>
            </a:r>
            <a:r>
              <a:rPr lang="en-US" altLang="zh-TW" dirty="0">
                <a:solidFill>
                  <a:srgbClr val="FF0000"/>
                </a:solidFill>
              </a:rPr>
              <a:t>2 pages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Mobile network architecture (4G/5G)</a:t>
            </a:r>
          </a:p>
          <a:p>
            <a:pPr lvl="2">
              <a:spcBef>
                <a:spcPts val="0"/>
              </a:spcBef>
            </a:pPr>
            <a:r>
              <a:rPr lang="en-US" altLang="zh-TW" dirty="0" err="1"/>
              <a:t>Ith</a:t>
            </a:r>
            <a:r>
              <a:rPr lang="en-US" altLang="zh-TW" dirty="0"/>
              <a:t>, 3G, 5 min presentation</a:t>
            </a:r>
          </a:p>
          <a:p>
            <a:pPr lvl="2">
              <a:spcBef>
                <a:spcPts val="0"/>
              </a:spcBef>
            </a:pPr>
            <a:r>
              <a:rPr lang="en-US" altLang="zh-TW" dirty="0" err="1"/>
              <a:t>Unss</a:t>
            </a:r>
            <a:r>
              <a:rPr lang="en-US" altLang="zh-TW" dirty="0"/>
              <a:t>, 4G, 5 min presentation</a:t>
            </a:r>
          </a:p>
          <a:p>
            <a:pPr lvl="2">
              <a:spcBef>
                <a:spcPts val="0"/>
              </a:spcBef>
            </a:pPr>
            <a:r>
              <a:rPr lang="en-US" altLang="zh-TW" dirty="0"/>
              <a:t>Simon, 5G, 5 min presentation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Read the papers sent by Edwin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Find similar papers in related work of the paper.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Use 2-3 sentences to describe how the problem is solved in the paper</a:t>
            </a:r>
          </a:p>
          <a:p>
            <a:pPr>
              <a:spcBef>
                <a:spcPts val="0"/>
              </a:spcBef>
            </a:pPr>
            <a:endParaRPr lang="en-US" altLang="zh-TW" dirty="0"/>
          </a:p>
          <a:p>
            <a:pPr>
              <a:spcBef>
                <a:spcPts val="0"/>
              </a:spcBef>
            </a:pPr>
            <a:endParaRPr lang="en-US" altLang="zh-TW" dirty="0"/>
          </a:p>
          <a:p>
            <a:pPr>
              <a:spcBef>
                <a:spcPts val="0"/>
              </a:spcBef>
            </a:pPr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7124F-9A31-F596-A902-B9AC5F093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6C0DD9-7BCE-4413-BE54-9A75DE555C7B}" type="datetime1">
              <a:rPr lang="en-US" altLang="zh-TW" smtClean="0"/>
              <a:pPr>
                <a:defRPr/>
              </a:pPr>
              <a:t>10/9/2025</a:t>
            </a:fld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EA6C1-1DE3-2059-68F9-EB4116647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F5A669-E021-420B-B33A-88CB5B8E39F6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1137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>
            <a:spLocks noGrp="1"/>
          </p:cNvSpPr>
          <p:nvPr>
            <p:ph type="dt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400">
                <a:latin typeface="Verdana" panose="020B0604030504040204" pitchFamily="34" charset="0"/>
              </a:rPr>
              <a:t>© copyright UEA</a:t>
            </a:r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052" name="Slide Number Placeholder 5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r>
              <a:rPr lang="en-GB" altLang="en-US" sz="1400">
                <a:latin typeface="Times New Roman" panose="02020603050405020304" pitchFamily="18" charset="0"/>
              </a:rPr>
              <a:t>slide </a:t>
            </a:r>
            <a:fld id="{1010D064-77DF-4B55-80BD-1876EBCED9D8}" type="slidenum">
              <a:rPr lang="en-GB" altLang="en-US" sz="1400">
                <a:latin typeface="Times New Roman" panose="02020603050405020304" pitchFamily="18" charset="0"/>
              </a:rPr>
              <a:pPr/>
              <a:t>8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2" y="1052736"/>
            <a:ext cx="8784976" cy="1537518"/>
          </a:xfrm>
        </p:spPr>
        <p:txBody>
          <a:bodyPr/>
          <a:lstStyle/>
          <a:p>
            <a:r>
              <a:rPr lang="en-GB" altLang="en-US" sz="4400" dirty="0"/>
              <a:t>Progress Report</a:t>
            </a:r>
            <a:br>
              <a:rPr lang="en-GB" altLang="en-US" sz="3200" dirty="0"/>
            </a:br>
            <a:r>
              <a:rPr lang="en-GB" altLang="en-US" sz="3200" dirty="0"/>
              <a:t>15 Apr-22 Apr 2024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7624" y="4077072"/>
            <a:ext cx="6912768" cy="1800200"/>
          </a:xfrm>
        </p:spPr>
        <p:txBody>
          <a:bodyPr/>
          <a:lstStyle/>
          <a:p>
            <a:r>
              <a:rPr lang="en-GB" altLang="en-US" b="1" dirty="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rPr>
              <a:t>For example: Adam Cook</a:t>
            </a:r>
            <a:br>
              <a:rPr lang="en-GB" altLang="en-US" b="1" dirty="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rPr>
            </a:br>
            <a:r>
              <a:rPr lang="en-GB" altLang="en-US" b="1" dirty="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rPr>
              <a:t>University of East Anglia</a:t>
            </a:r>
          </a:p>
          <a:p>
            <a:r>
              <a:rPr lang="en-GB" altLang="en-US" b="1" dirty="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微軟正黑體" panose="020B0604030504040204" pitchFamily="34" charset="-120"/>
              </a:rPr>
              <a:t>05-Mar-2023</a:t>
            </a:r>
          </a:p>
        </p:txBody>
      </p:sp>
    </p:spTree>
    <p:extLst>
      <p:ext uri="{BB962C8B-B14F-4D97-AF65-F5344CB8AC3E}">
        <p14:creationId xmlns:p14="http://schemas.microsoft.com/office/powerpoint/2010/main" val="3238939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Plan Of The Last Meeting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/>
              <a:t>Literature review 25% </a:t>
            </a:r>
            <a:r>
              <a:rPr lang="en-US" altLang="zh-TW" dirty="0">
                <a:solidFill>
                  <a:srgbClr val="FF0000"/>
                </a:solidFill>
              </a:rPr>
              <a:t>31 Oct (2 pages per week)</a:t>
            </a:r>
          </a:p>
          <a:p>
            <a:pPr>
              <a:spcBef>
                <a:spcPts val="0"/>
              </a:spcBef>
            </a:pPr>
            <a:r>
              <a:rPr lang="en-US" altLang="zh-TW" dirty="0"/>
              <a:t>Prepare and write for Literature review </a:t>
            </a:r>
            <a:r>
              <a:rPr lang="en-US" altLang="zh-TW" dirty="0">
                <a:solidFill>
                  <a:srgbClr val="FF0000"/>
                </a:solidFill>
              </a:rPr>
              <a:t>2 pages</a:t>
            </a:r>
          </a:p>
          <a:p>
            <a:pPr lvl="1">
              <a:spcBef>
                <a:spcPts val="0"/>
              </a:spcBef>
            </a:pPr>
            <a:r>
              <a:rPr lang="en-US" altLang="zh-TW" dirty="0"/>
              <a:t>Mobile network architecture (4G/5G)</a:t>
            </a:r>
          </a:p>
          <a:p>
            <a:pPr lvl="1">
              <a:spcBef>
                <a:spcPts val="0"/>
              </a:spcBef>
            </a:pPr>
            <a:r>
              <a:rPr lang="en-US" altLang="zh-TW" strike="sngStrike" dirty="0"/>
              <a:t>Read the papers sent by Edwin</a:t>
            </a:r>
          </a:p>
          <a:p>
            <a:pPr lvl="1">
              <a:spcBef>
                <a:spcPts val="0"/>
              </a:spcBef>
            </a:pPr>
            <a:r>
              <a:rPr lang="en-US" altLang="zh-TW" strike="sngStrike" dirty="0"/>
              <a:t>Find similar papers in related work of the paper.</a:t>
            </a:r>
          </a:p>
          <a:p>
            <a:pPr lvl="1">
              <a:spcBef>
                <a:spcPts val="0"/>
              </a:spcBef>
            </a:pPr>
            <a:r>
              <a:rPr lang="en-US" altLang="zh-TW" strike="sngStrike" dirty="0"/>
              <a:t>Use 2-3 sentences to describe how the problem is solved in the paper</a:t>
            </a:r>
          </a:p>
          <a:p>
            <a:endParaRPr lang="en-US" altLang="zh-TW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07-Feb-18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F5A669-E021-420B-B33A-88CB5B8E39F6}" type="slidenum">
              <a:rPr lang="zh-TW" altLang="en-US" smtClean="0"/>
              <a:pPr>
                <a:defRPr/>
              </a:pPr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411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Progress Overview For The Last Week</a:t>
            </a:r>
            <a:endParaRPr lang="zh-TW" alt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Task one  </a:t>
            </a:r>
          </a:p>
          <a:p>
            <a:pPr lvl="1"/>
            <a:r>
              <a:rPr lang="en-GB" altLang="zh-TW" dirty="0">
                <a:solidFill>
                  <a:srgbClr val="C00000"/>
                </a:solidFill>
              </a:rPr>
              <a:t>In this slide, please use strike line and grey </a:t>
            </a:r>
            <a:r>
              <a:rPr lang="en-GB" altLang="zh-TW" dirty="0" err="1">
                <a:solidFill>
                  <a:srgbClr val="C00000"/>
                </a:solidFill>
              </a:rPr>
              <a:t>color</a:t>
            </a:r>
            <a:r>
              <a:rPr lang="en-GB" altLang="zh-TW" dirty="0">
                <a:solidFill>
                  <a:srgbClr val="C00000"/>
                </a:solidFill>
              </a:rPr>
              <a:t> to mark finished tasks</a:t>
            </a:r>
          </a:p>
          <a:p>
            <a:pPr lvl="1"/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Subtask 2</a:t>
            </a:r>
          </a:p>
          <a:p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Task two</a:t>
            </a:r>
          </a:p>
          <a:p>
            <a:pPr lvl="1"/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Subtask 1</a:t>
            </a:r>
          </a:p>
          <a:p>
            <a:pPr lvl="1"/>
            <a:r>
              <a:rPr lang="en-US" altLang="zh-TW" dirty="0"/>
              <a:t>Subtask 2</a:t>
            </a:r>
          </a:p>
          <a:p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Task three</a:t>
            </a:r>
          </a:p>
          <a:p>
            <a:pPr lvl="1"/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Subtask 1</a:t>
            </a:r>
          </a:p>
          <a:p>
            <a:pPr lvl="1"/>
            <a:r>
              <a:rPr lang="en-US" altLang="zh-TW" strike="sngStrike" dirty="0">
                <a:solidFill>
                  <a:schemeClr val="bg1">
                    <a:lumMod val="65000"/>
                  </a:schemeClr>
                </a:solidFill>
              </a:rPr>
              <a:t>Subtask 2</a:t>
            </a:r>
          </a:p>
          <a:p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6C0DD9-7BCE-4413-BE54-9A75DE555C7B}" type="datetime1">
              <a:rPr lang="en-US" altLang="zh-TW" smtClean="0"/>
              <a:pPr>
                <a:defRPr/>
              </a:pPr>
              <a:t>10/9/2025</a:t>
            </a:fld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F5A669-E021-420B-B33A-88CB5B8E39F6}" type="slidenum">
              <a:rPr lang="zh-TW" altLang="en-US" smtClean="0"/>
              <a:pPr>
                <a:defRPr/>
              </a:pPr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36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Progress For The Last Week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Task one…..</a:t>
            </a:r>
          </a:p>
          <a:p>
            <a:r>
              <a:rPr lang="en-US" altLang="zh-TW" dirty="0">
                <a:solidFill>
                  <a:srgbClr val="C00000"/>
                </a:solidFill>
              </a:rPr>
              <a:t>In this slide, please explain finished task one in detail.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6C0DD9-7BCE-4413-BE54-9A75DE555C7B}" type="datetime1">
              <a:rPr lang="en-US" altLang="zh-TW" smtClean="0"/>
              <a:pPr>
                <a:defRPr/>
              </a:pPr>
              <a:t>10/9/2025</a:t>
            </a:fld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F5A669-E021-420B-B33A-88CB5B8E39F6}" type="slidenum">
              <a:rPr lang="zh-TW" altLang="en-US" smtClean="0"/>
              <a:pPr>
                <a:defRPr/>
              </a:pPr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5693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/>
              <a:t>Progress For The Last Week (cont.)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Task two…</a:t>
            </a:r>
          </a:p>
          <a:p>
            <a:r>
              <a:rPr lang="en-GB" altLang="zh-TW" dirty="0">
                <a:solidFill>
                  <a:srgbClr val="C00000"/>
                </a:solidFill>
              </a:rPr>
              <a:t>In this slide, please explain finished task two in detail.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6C0DD9-7BCE-4413-BE54-9A75DE555C7B}" type="datetime1">
              <a:rPr lang="en-US" altLang="zh-TW" smtClean="0"/>
              <a:pPr>
                <a:defRPr/>
              </a:pPr>
              <a:t>10/9/2025</a:t>
            </a:fld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F5A669-E021-420B-B33A-88CB5B8E39F6}" type="slidenum">
              <a:rPr lang="zh-TW" altLang="en-US" smtClean="0"/>
              <a:pPr>
                <a:defRPr/>
              </a:pPr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794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Actions for the Next Week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Milestones</a:t>
            </a:r>
          </a:p>
          <a:p>
            <a:pPr lvl="1"/>
            <a:r>
              <a:rPr lang="en-US" altLang="zh-TW" dirty="0"/>
              <a:t>Proposal?</a:t>
            </a:r>
          </a:p>
          <a:p>
            <a:pPr lvl="1"/>
            <a:r>
              <a:rPr lang="en-US" altLang="zh-TW" dirty="0"/>
              <a:t>Progress report?</a:t>
            </a:r>
          </a:p>
          <a:p>
            <a:pPr lvl="1"/>
            <a:r>
              <a:rPr lang="en-US" altLang="zh-TW" dirty="0"/>
              <a:t>Project Inspection/report submission?</a:t>
            </a:r>
          </a:p>
          <a:p>
            <a:r>
              <a:rPr lang="en-US" altLang="zh-TW" dirty="0"/>
              <a:t>Regular meetings with Eden (Edwin joins once per two weeks)</a:t>
            </a:r>
          </a:p>
          <a:p>
            <a:pPr lvl="1"/>
            <a:r>
              <a:rPr lang="en-US" altLang="zh-TW" dirty="0"/>
              <a:t>4pm Thursday</a:t>
            </a:r>
          </a:p>
          <a:p>
            <a:r>
              <a:rPr lang="en-US" altLang="zh-TW" dirty="0"/>
              <a:t>Use the progress report template</a:t>
            </a:r>
          </a:p>
          <a:p>
            <a:r>
              <a:rPr lang="en-US" altLang="zh-TW" dirty="0"/>
              <a:t>Spend some time to know the project</a:t>
            </a:r>
          </a:p>
          <a:p>
            <a:r>
              <a:rPr lang="en-US" altLang="zh-TW" dirty="0"/>
              <a:t>Eden share the zip file to Max and Richard</a:t>
            </a:r>
          </a:p>
          <a:p>
            <a:r>
              <a:rPr lang="en-US" altLang="zh-TW" dirty="0"/>
              <a:t>Send GitHub account to Eden</a:t>
            </a:r>
          </a:p>
          <a:p>
            <a:pPr lvl="1"/>
            <a:r>
              <a:rPr lang="en-US" altLang="zh-TW" dirty="0"/>
              <a:t>Eden shares GitHub to them</a:t>
            </a:r>
          </a:p>
          <a:p>
            <a:pPr lvl="1"/>
            <a:endParaRPr lang="en-US" altLang="zh-TW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6C0DD9-7BCE-4413-BE54-9A75DE555C7B}" type="datetime1">
              <a:rPr lang="en-US" altLang="zh-TW" smtClean="0"/>
              <a:pPr>
                <a:defRPr/>
              </a:pPr>
              <a:t>10/9/2025</a:t>
            </a:fld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F5A669-E021-420B-B33A-88CB5B8E39F6}" type="slidenum">
              <a:rPr lang="zh-TW" altLang="en-US" smtClean="0"/>
              <a:pPr>
                <a:defRPr/>
              </a:pPr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3517451"/>
      </p:ext>
    </p:extLst>
  </p:cSld>
  <p:clrMapOvr>
    <a:masterClrMapping/>
  </p:clrMapOvr>
</p:sld>
</file>

<file path=ppt/theme/theme1.xml><?xml version="1.0" encoding="utf-8"?>
<a:theme xmlns:a="http://schemas.openxmlformats.org/drawingml/2006/main" name="Level">
  <a:themeElements>
    <a:clrScheme name="暖調藍色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訂 1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15524</TotalTime>
  <Words>548</Words>
  <Application>Microsoft Office PowerPoint</Application>
  <PresentationFormat>On-screen Show (4:3)</PresentationFormat>
  <Paragraphs>115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Verdana</vt:lpstr>
      <vt:lpstr>Wingdings</vt:lpstr>
      <vt:lpstr>Level</vt:lpstr>
      <vt:lpstr>Progress Report 9 Oct-15 Oct 2025</vt:lpstr>
      <vt:lpstr>Plan Of The Last Meeting</vt:lpstr>
      <vt:lpstr>Progress Overview For The Last Week</vt:lpstr>
      <vt:lpstr>Progress For The Last Week</vt:lpstr>
      <vt:lpstr>Progress For The Last Week (cont.)</vt:lpstr>
      <vt:lpstr>Actions for the Next Week</vt:lpstr>
      <vt:lpstr>Actions for the Next Week</vt:lpstr>
      <vt:lpstr>Progress Report 15 Apr-22 Apr 2024</vt:lpstr>
      <vt:lpstr>Plan Of The Last Meeting</vt:lpstr>
      <vt:lpstr>Progress Overview For The Last Week</vt:lpstr>
      <vt:lpstr>Progress For The Last Week</vt:lpstr>
      <vt:lpstr>Progress For The Last Week (cont.)</vt:lpstr>
      <vt:lpstr>Actions for the Next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Self-Localization</dc:title>
  <dc:creator>yctseng</dc:creator>
  <cp:lastModifiedBy>Edwin Ren (CMP - Staff)</cp:lastModifiedBy>
  <cp:revision>692</cp:revision>
  <cp:lastPrinted>2014-10-09T09:28:50Z</cp:lastPrinted>
  <dcterms:created xsi:type="dcterms:W3CDTF">2013-06-26T18:21:01Z</dcterms:created>
  <dcterms:modified xsi:type="dcterms:W3CDTF">2025-10-09T14:05:09Z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-294260517</vt:i4>
  </property>
  <property fmtid="{D5CDD505-2E9C-101B-9397-08002B2CF9AE}" pid="3" name="_NewReviewCycle">
    <vt:lpwstr/>
  </property>
  <property fmtid="{D5CDD505-2E9C-101B-9397-08002B2CF9AE}" pid="4" name="_EmailSubject">
    <vt:lpwstr>Progress report template and flow chart</vt:lpwstr>
  </property>
  <property fmtid="{D5CDD505-2E9C-101B-9397-08002B2CF9AE}" pid="5" name="_AuthorEmail">
    <vt:lpwstr>E.Ren@uea.ac.uk</vt:lpwstr>
  </property>
  <property fmtid="{D5CDD505-2E9C-101B-9397-08002B2CF9AE}" pid="6" name="_AuthorEmailDisplayName">
    <vt:lpwstr>Edwin Ren (CMP - Staff)</vt:lpwstr>
  </property>
</Properties>
</file>